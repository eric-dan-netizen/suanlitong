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defRPr sz="4400" b="1">
                <a:solidFill>
                  <a:srgbClr val="FFFFFF"/>
                </a:solidFill>
                <a:latin typeface="PingFang SC"/>
              </a:defRPr>
            </a:pPr>
            <a:r>
              <a:t>算力通 · 投资人深度分析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651760"/>
            <a:ext cx="39319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800" b="0">
                <a:solidFill>
                  <a:srgbClr val="8893A0"/>
                </a:solidFill>
                <a:latin typeface="PingFang SC"/>
              </a:defRPr>
            </a:pPr>
            <a:r>
              <a:t>市场构成拆解  ·  开发者五年趋势  ·  退出收益测算</a:t>
            </a:r>
          </a:p>
          <a:p>
            <a:pPr algn="ctr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</a:p>
          <a:p>
            <a:pPr algn="ctr">
              <a:lnSpc>
                <a:spcPts val="1800"/>
              </a:lnSpc>
              <a:defRPr sz="1400" b="0">
                <a:solidFill>
                  <a:srgbClr val="00FF88"/>
                </a:solidFill>
                <a:latin typeface="PingFang SC"/>
              </a:defRPr>
            </a:pPr>
            <a:r>
              <a:t>种子轮 · 200 万 · 10%~15%  |  2026 年 7 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8,351 亿算力市场，钱花在哪了？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中国信通院口径：涵盖芯片→服务的全产业链  |  2025 年数据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4754880" cy="25603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A0E17"/>
                </a:solidFill>
                <a:latin typeface="PingFang SC"/>
              </a:defRPr>
            </a:pPr>
            <a:r>
              <a:t>④ 服务层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t>~2,100-2,500亿  (25-30%)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0A0E17"/>
                </a:solidFill>
                <a:latin typeface="PingFang SC"/>
              </a:defRPr>
            </a:pPr>
            <a:r>
              <a:t>• 云计算 IaaS/PaaS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9280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0A0E17"/>
                </a:solidFill>
                <a:latin typeface="PingFang SC"/>
              </a:defRPr>
            </a:pPr>
            <a:r>
              <a:t>• AI 模型训练/推理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9397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0A0E17"/>
                </a:solidFill>
                <a:latin typeface="PingFang SC"/>
              </a:defRPr>
            </a:pPr>
            <a:r>
              <a:t>• 算力调度与运维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4754880" cy="1737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A0E17"/>
                </a:solidFill>
                <a:latin typeface="PingFang SC"/>
              </a:defRPr>
            </a:pPr>
            <a:r>
              <a:t>③ 软件层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t>~1,250-1,670亿  (15-20%)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0A0E17"/>
                </a:solidFill>
                <a:latin typeface="PingFang SC"/>
              </a:defRPr>
            </a:pPr>
            <a:r>
              <a:t>• AI 框架 (PyTorch/PP)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1868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0A0E17"/>
                </a:solidFill>
                <a:latin typeface="PingFang SC"/>
              </a:defRPr>
            </a:pPr>
            <a:r>
              <a:t>• 数据库与中间件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1985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0A0E17"/>
                </a:solidFill>
                <a:latin typeface="PingFang SC"/>
              </a:defRPr>
            </a:pPr>
            <a:r>
              <a:t>• 算力管理平台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475488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A0E17"/>
                </a:solidFill>
                <a:latin typeface="PingFang SC"/>
              </a:defRPr>
            </a:pPr>
            <a:r>
              <a:t>② 基础设施层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069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t>~835-1,250亿  (10-15%)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0A0E17"/>
                </a:solidFill>
                <a:latin typeface="PingFang SC"/>
              </a:defRPr>
            </a:pPr>
            <a:r>
              <a:t>• IDC 建设与运营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4456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0A0E17"/>
                </a:solidFill>
                <a:latin typeface="PingFang SC"/>
              </a:defRPr>
            </a:pPr>
            <a:r>
              <a:t>• 电力/冷却/液冷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4573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0A0E17"/>
                </a:solidFill>
                <a:latin typeface="PingFang SC"/>
              </a:defRPr>
            </a:pPr>
            <a:r>
              <a:t>• 1,250万+ 标准机架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4754880" cy="1737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A0E17"/>
                </a:solidFill>
                <a:latin typeface="PingFang SC"/>
              </a:defRPr>
            </a:pPr>
            <a:r>
              <a:t>① 硬件与设备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394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500"/>
              </a:lnSpc>
              <a:defRPr sz="1300" b="1">
                <a:solidFill>
                  <a:srgbClr val="0A0E17"/>
                </a:solidFill>
                <a:latin typeface="PingFang SC"/>
              </a:defRPr>
            </a:pPr>
            <a:r>
              <a:t>~3,750-4,175亿  (45-50%)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0A0E17"/>
                </a:solidFill>
                <a:latin typeface="PingFang SC"/>
              </a:defRPr>
            </a:pPr>
            <a:r>
              <a:t>• GPU/AI 芯片 (含国产)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70447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0A0E17"/>
                </a:solidFill>
                <a:latin typeface="PingFang SC"/>
              </a:defRPr>
            </a:pPr>
            <a:r>
              <a:t>• 服务器整机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07161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1000" b="0">
                <a:solidFill>
                  <a:srgbClr val="0A0E17"/>
                </a:solidFill>
                <a:latin typeface="PingFang SC"/>
              </a:defRPr>
            </a:pPr>
            <a:r>
              <a:t>• 存储与网络设备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716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0D4FF"/>
                </a:solidFill>
                <a:latin typeface="PingFang SC"/>
              </a:defRPr>
            </a:pPr>
            <a:r>
              <a:t>▸ 算力通的定位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78308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硬件层  3,750亿  →  NVIDIA/华为/浪潮的蛋糕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555E6B"/>
                </a:solidFill>
                <a:latin typeface="PingFang SC"/>
              </a:defRPr>
            </a:pPr>
            <a:r>
              <a:t>         算力通不碰 ← 不买卡，不造芯片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基础设施  835亿  →  万国数据/世纪互联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555E6B"/>
                </a:solidFill>
                <a:latin typeface="PingFang SC"/>
              </a:defRPr>
            </a:pPr>
            <a:r>
              <a:t>         二期自有 GPU 才需要 ← 一期不碰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200" b="1">
                <a:solidFill>
                  <a:srgbClr val="00D4FF"/>
                </a:solidFill>
                <a:latin typeface="PingFang SC"/>
              </a:defRPr>
            </a:pPr>
            <a:r>
              <a:t>软件层  1,250亿  →  算力通的「差异化武器」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555E6B"/>
                </a:solidFill>
                <a:latin typeface="PingFang SC"/>
              </a:defRPr>
            </a:pPr>
            <a:r>
              <a:t>         比价引擎 · 调度系统 · 一键部署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服务层  2,100亿  →  算力通的核心赛道 ★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555E6B"/>
                </a:solidFill>
                <a:latin typeface="PingFang SC"/>
              </a:defRPr>
            </a:pPr>
            <a:r>
              <a:t>         GPU 租赁子市场 ~130-160亿  TAM 97亿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solidFill>
            <a:srgbClr val="121824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080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核心洞察：算力通站在服务层与软件层的交叉点 — 不造芯片、不建机房、不和云厂商正面竞争，做云厂商的「体验层」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按算力类型：智能算力一骑绝尘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2025 年 1,053 EFLOPS，智能算力占比 81%，年增 ~40%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t>智能算力 (AI)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1,053 EFLOPS  ·  81%  ·  +40% / 年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2438147381760" cy="4572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1974899379225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0D4FF"/>
                </a:solidFill>
                <a:latin typeface="PingFang SC"/>
              </a:defRPr>
            </a:pPr>
            <a:r>
              <a:t>通用算力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18288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~180 EFLOPS  ·  14%  ·  平稳增长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194560"/>
            <a:ext cx="421408189440" cy="4572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194560"/>
            <a:ext cx="58997146521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FFD700"/>
                </a:solidFill>
                <a:latin typeface="PingFang SC"/>
              </a:defRPr>
            </a:pPr>
            <a:r>
              <a:t>超级算力 (HPC)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~60 EFLOPS  ·  5%  ·  科研/军工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194560"/>
            <a:ext cx="150502924800" cy="4572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194560"/>
            <a:ext cx="752514624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11064240" cy="3291840"/>
          </a:xfrm>
          <a:prstGeom prst="rect">
            <a:avLst/>
          </a:prstGeom>
          <a:solidFill>
            <a:srgbClr val="121824"/>
          </a:solidFill>
          <a:ln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46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t>智能算力增长轨迹 (EFLOPS)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00D4FF"/>
                </a:solidFill>
                <a:latin typeface="PingFang SC"/>
              </a:defRPr>
            </a:pPr>
            <a:r>
              <a:t>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725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00D4FF"/>
                </a:solidFill>
                <a:latin typeface="PingFang SC"/>
              </a:defRPr>
            </a:pPr>
            <a:r>
              <a:t>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977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297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00D4FF"/>
                </a:solidFill>
                <a:latin typeface="PingFang SC"/>
              </a:defRPr>
            </a:pPr>
            <a:r>
              <a:t>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977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1,053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97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+45%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00D4FF"/>
                </a:solidFill>
                <a:latin typeface="PingFang SC"/>
              </a:defRPr>
            </a:pPr>
            <a:r>
              <a:t>2026E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77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1,460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97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+39%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2027E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977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~2,000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297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+37%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703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2028E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9776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~2,700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2976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+35%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00FF88"/>
                </a:solidFill>
                <a:latin typeface="PingFang SC"/>
              </a:defRPr>
            </a:pPr>
            <a:r>
              <a:t>2023-2028 CAGR: 46.2%   |   日均 Token 调用量两年涨 1,000 倍 (1,000亿 → 140万亿+)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智能算力的爆发式增长意味着什么？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→ 训练需求之外，推理需求正在成为主力增量 — 每个上线的 AI 应用都在持续消耗 GPU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→ 推理需求分散、碎片化、弹性强 — 这恰恰是「按秒计费 + Spot 竞价」模式最擅长的场景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算力通在万亿市场中的位置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上游芯片→中游云厂商→算力通（聚合层）→下游开发者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51760" cy="1828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A0E17"/>
                </a:solidFill>
                <a:latin typeface="PingFang SC"/>
              </a:defRPr>
            </a:pPr>
            <a:r>
              <a:t>芯片厂商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0A0E17"/>
                </a:solidFill>
                <a:latin typeface="PingFang SC"/>
              </a:defRPr>
            </a:pPr>
            <a:r>
              <a:t>NVIDIA</a:t>
            </a:r>
            <a:br/>
            <a:r>
              <a:t>华为昇腾</a:t>
            </a:r>
            <a:br/>
            <a:r>
              <a:t>寒武纪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011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463040"/>
            <a:ext cx="265176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A0E17"/>
                </a:solidFill>
                <a:latin typeface="PingFang SC"/>
              </a:defRPr>
            </a:pPr>
            <a:r>
              <a:t>云厂商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0A0E17"/>
                </a:solidFill>
                <a:latin typeface="PingFang SC"/>
              </a:defRPr>
            </a:pPr>
            <a:r>
              <a:t>阿里云 PAI</a:t>
            </a:r>
            <a:br/>
            <a:r>
              <a:t>华为云</a:t>
            </a:r>
            <a:br/>
            <a:r>
              <a:t>腾讯云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2651760" cy="22860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A0E17"/>
                </a:solidFill>
                <a:latin typeface="PingFang SC"/>
              </a:defRPr>
            </a:pPr>
            <a:r>
              <a:t>算力通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0A0E17"/>
                </a:solidFill>
                <a:latin typeface="PingFang SC"/>
              </a:defRPr>
            </a:pPr>
            <a:r>
              <a:t>多云比价</a:t>
            </a:r>
            <a:br/>
            <a:r>
              <a:t>一键部署</a:t>
            </a:r>
            <a:br/>
            <a:r>
              <a:t>按秒计费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0116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1463040"/>
            <a:ext cx="2651760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A0E17"/>
                </a:solidFill>
                <a:latin typeface="PingFang SC"/>
              </a:defRPr>
            </a:pPr>
            <a:r>
              <a:t>AI 开发者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828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0A0E17"/>
                </a:solidFill>
                <a:latin typeface="PingFang SC"/>
              </a:defRPr>
            </a:pPr>
            <a:r>
              <a:t>独立开发者</a:t>
            </a:r>
            <a:br/>
            <a:r>
              <a:t>小团队</a:t>
            </a:r>
            <a:br/>
            <a:r>
              <a:t>AI 创业者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各层市场规模 &amp; 算力通参与度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164592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1513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层级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4114800"/>
            <a:ext cx="219456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80" y="41513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2025 规模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114800"/>
            <a:ext cx="201168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1513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算力通参与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114800"/>
            <a:ext cx="27432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1513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参与方式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4114800"/>
            <a:ext cx="182880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41513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参与阶段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498848"/>
            <a:ext cx="1645920" cy="347472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5354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硬件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4498848"/>
            <a:ext cx="2194560" cy="347472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80" y="45354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3,750-4,175亿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498848"/>
            <a:ext cx="2011680" cy="347472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5354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498848"/>
            <a:ext cx="2743200" cy="347472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5354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不参与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4498848"/>
            <a:ext cx="1828800" cy="347472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453542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882896"/>
            <a:ext cx="1645920" cy="347472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9194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基础设施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4882896"/>
            <a:ext cx="2194560" cy="347472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40280" y="49194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835-1,250亿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4882896"/>
            <a:ext cx="2011680" cy="347472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40" y="491947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0% → 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882896"/>
            <a:ext cx="2743200" cy="347472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9194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二期租赁 IDC 机柜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4882896"/>
            <a:ext cx="1828800" cy="347472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4919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M18+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266944"/>
            <a:ext cx="1645920" cy="347472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5303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软件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94560" y="5266944"/>
            <a:ext cx="2194560" cy="347472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40280" y="5303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1,250-1,670亿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89120" y="5266944"/>
            <a:ext cx="2011680" cy="347472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4840" y="53035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差异化层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5266944"/>
            <a:ext cx="2743200" cy="347472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53035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比价引擎/调度 SaaS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5266944"/>
            <a:ext cx="1828800" cy="347472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89720" y="5303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M0+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650992"/>
            <a:ext cx="1645920" cy="347472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56875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服务·GPU租赁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94560" y="5650992"/>
            <a:ext cx="2194560" cy="347472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40280" y="56875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130-160亿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89120" y="5650992"/>
            <a:ext cx="2011680" cy="347472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34840" y="56875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00FF88"/>
                </a:solidFill>
                <a:latin typeface="PingFang SC"/>
              </a:defRPr>
            </a:pPr>
            <a:r>
              <a:t>核心赛道 ★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5650992"/>
            <a:ext cx="2743200" cy="347472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46520" y="56875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聚合+返佣+差价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0" y="5650992"/>
            <a:ext cx="1828800" cy="347472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89720" y="56875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M3+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AI 开发者五年趋势：总量翻倍 + 结构重组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2025 年 940 万人 → 2030 年 ~2,200 万人  |  CAGR ~18-20%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731519"/>
            <a:ext cx="1280160" cy="228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940万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00FF88"/>
                </a:solidFill>
                <a:latin typeface="PingFang SC"/>
              </a:defRPr>
            </a:pPr>
            <a:r>
              <a:t>2025  基准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96498"/>
            <a:ext cx="1280160" cy="2821021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31089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1160万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383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2026E  +23%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-387160"/>
            <a:ext cx="1280160" cy="3404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1089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1400万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83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2027E  +21%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-1043777"/>
            <a:ext cx="1280160" cy="4061297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1089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1670万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83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2028E  +19%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-1773352"/>
            <a:ext cx="1280160" cy="479087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1089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1970万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383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2029E  +18%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69880" y="-2332692"/>
            <a:ext cx="1280160" cy="535021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31089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2200万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33832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2030E  +12%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404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0D4FF"/>
                </a:solidFill>
                <a:latin typeface="PingFang SC"/>
              </a:defRPr>
            </a:pPr>
            <a:r>
              <a:t>五大增长引擎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51960"/>
            <a:ext cx="2011680" cy="13716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3434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AI 编程工具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63600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Cursor/Copilot 让</a:t>
            </a:r>
            <a:br/>
            <a:r>
              <a:t>1人=1个团队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4251960"/>
            <a:ext cx="2011680" cy="13716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43434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00D4FF"/>
                </a:solidFill>
                <a:latin typeface="PingFang SC"/>
              </a:defRPr>
            </a:pPr>
            <a:r>
              <a:t>开源模型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63600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DeepSeek/Qwen</a:t>
            </a:r>
            <a:br/>
            <a:r>
              <a:t>逼近 GPT-4 水平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4251960"/>
            <a:ext cx="2011680" cy="13716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43434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D700"/>
                </a:solidFill>
                <a:latin typeface="PingFang SC"/>
              </a:defRPr>
            </a:pPr>
            <a:r>
              <a:t>AI Agent 创业潮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63600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每个 Agent = 1个</a:t>
            </a:r>
            <a:br/>
            <a:r>
              <a:t>微型 SaaS 产品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4251960"/>
            <a:ext cx="2011680" cy="13716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43434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6B35"/>
                </a:solidFill>
                <a:latin typeface="PingFang SC"/>
              </a:defRPr>
            </a:pPr>
            <a:r>
              <a:t>Token 价格暴跌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63600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价格降 90%</a:t>
            </a:r>
            <a:br/>
            <a:r>
              <a:t>用量涨 10 倍+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0" y="4251960"/>
            <a:ext cx="2011680" cy="13716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434340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AI 教育普及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463600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500+ 高校开设</a:t>
            </a:r>
            <a:br/>
            <a:r>
              <a:t>AI 专业课程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943600"/>
            <a:ext cx="11064240" cy="594360"/>
          </a:xfrm>
          <a:prstGeom prst="rect">
            <a:avLst/>
          </a:prstGeom>
          <a:solidFill>
            <a:srgbClr val="12182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先行指标印证：Token 调用量两年 1,000 倍 → AI 核心产业 1.2 万亿 →「十五五」末 10 万亿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开发者增速 (18-22%) &lt; 算力增速 (46%) — 因为人比机器慢，但 AI 工具正在加速这个进程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结构性迁移：饼在变大，更在重新切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独立开发者 + 小团队占比从 34% → 47% —「超级个体化」是最大的结构红利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41148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独立开发者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1">
                <a:solidFill>
                  <a:srgbClr val="00FF88"/>
                </a:solidFill>
                <a:latin typeface="PingFang SC"/>
              </a:defRPr>
            </a:pPr>
            <a:r>
              <a:t>129万→480万</a:t>
            </a:r>
          </a:p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+272%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占比 13.7%→22%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涨幅最大</a:t>
            </a:r>
            <a:br/>
            <a:r>
              <a:t>AI工具让个人=</a:t>
            </a:r>
            <a:br/>
            <a:r>
              <a:t>一个团队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71600"/>
            <a:ext cx="265176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3898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50人以下小团队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202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1">
                <a:solidFill>
                  <a:srgbClr val="00D4FF"/>
                </a:solidFill>
                <a:latin typeface="PingFang SC"/>
              </a:defRPr>
            </a:pPr>
            <a:r>
              <a:t>195万→550万</a:t>
            </a:r>
          </a:p>
          <a:p>
            <a:pPr algn="l">
              <a:lnSpc>
                <a:spcPts val="1800"/>
              </a:lnSpc>
              <a:defRPr sz="1300" b="1">
                <a:solidFill>
                  <a:srgbClr val="8893A0"/>
                </a:solidFill>
                <a:latin typeface="PingFang SC"/>
              </a:defRPr>
            </a:pPr>
            <a:r>
              <a:t>+182%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占比 20.7%→25%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创业潮主力</a:t>
            </a:r>
            <a:br/>
            <a:r>
              <a:t>3-5人即可</a:t>
            </a:r>
            <a:br/>
            <a:r>
              <a:t>做出 AI 产品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265176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898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千人以上大厂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1">
                <a:solidFill>
                  <a:srgbClr val="FFD700"/>
                </a:solidFill>
                <a:latin typeface="PingFang SC"/>
              </a:defRPr>
            </a:pPr>
            <a:r>
              <a:t>228万→320万</a:t>
            </a:r>
          </a:p>
          <a:p>
            <a:pPr algn="l">
              <a:lnSpc>
                <a:spcPts val="1800"/>
              </a:lnSpc>
              <a:defRPr sz="1300" b="1">
                <a:solidFill>
                  <a:srgbClr val="8893A0"/>
                </a:solidFill>
                <a:latin typeface="PingFang SC"/>
              </a:defRPr>
            </a:pPr>
            <a:r>
              <a:t>+40%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占比 24.3%→14.5%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绝对量涨</a:t>
            </a:r>
            <a:br/>
            <a:r>
              <a:t>相对量降</a:t>
            </a:r>
            <a:br/>
            <a:r>
              <a:t>AI替代传统岗位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371600"/>
            <a:ext cx="26517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3898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其他(学生/科研等)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2024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388万→850万</a:t>
            </a:r>
          </a:p>
          <a:p>
            <a:pPr algn="l">
              <a:lnSpc>
                <a:spcPts val="1800"/>
              </a:lnSpc>
              <a:defRPr sz="1300" b="1">
                <a:solidFill>
                  <a:srgbClr val="8893A0"/>
                </a:solidFill>
                <a:latin typeface="PingFang SC"/>
              </a:defRPr>
            </a:pPr>
            <a:r>
              <a:t>+119%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占比 41.3%→38.5%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高校扩招</a:t>
            </a:r>
            <a:br/>
            <a:r>
              <a:t>科研向AI迁移</a:t>
            </a:r>
            <a:br/>
            <a:r>
              <a:t>中型企业转型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11064240" cy="2286000"/>
          </a:xfrm>
          <a:prstGeom prst="rect">
            <a:avLst/>
          </a:prstGeom>
          <a:solidFill>
            <a:srgbClr val="12182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00FF88"/>
                </a:solidFill>
                <a:latin typeface="PingFang SC"/>
              </a:defRPr>
            </a:pPr>
            <a:r>
              <a:t>🔥 「超级个体化」—— 算力通最大的结构性红利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五个叠加趋势：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1. Cursor/Claude Code — 1 个全栈 = 去年 5 人团队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2. Qwen/DeepSeek 开源 — 微调成本从百万降至数千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3. AI Agent — 不需要「做大平台」，做「一个能卖钱的 Agent」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4. Token 价格逼近一度电 — 推理成本趋零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5. 小程序/抖音 AI 能力开放 — 独立开发者有现成分发渠道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6634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对算力通意味着什么？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→ 129 万独立开发者不是终点，是起点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→ 每年新增 40-60 万独立 AI 开发者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→ 每个人都需要 GPU（微调/推理/部署）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→ 每个人都不愿被包月锁死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→ 每个人都不想花 2 天配环境</a:t>
            </a:r>
          </a:p>
          <a:p>
            <a:pPr algn="l">
              <a:lnSpc>
                <a:spcPts val="1800"/>
              </a:lnSpc>
              <a:defRPr sz="8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这就是算力通「按秒计费 + 一键部署」</a:t>
            </a:r>
          </a:p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天然适配超级个体时代的理由。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算力通 SAM：324 万 → 1,030 万（3.2 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总量翻 2.3 倍 × 核心人群占比升至 47% × 需 GPU 比例升至 70%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2004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40" y="1463040"/>
            <a:ext cx="25603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536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25603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36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2030E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463040"/>
            <a:ext cx="25603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536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0A0E17"/>
                </a:solidFill>
                <a:latin typeface="PingFang SC"/>
              </a:defRPr>
            </a:pPr>
            <a:r>
              <a:t>倍数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965960"/>
            <a:ext cx="3200400" cy="45720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39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总 AI 开发者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1965960"/>
            <a:ext cx="2560320" cy="45720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2039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940 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65960"/>
            <a:ext cx="2560320" cy="45720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039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2,200 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965960"/>
            <a:ext cx="2560320" cy="45720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039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2.3x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468880"/>
            <a:ext cx="3200400" cy="45720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542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独立+小团队 (核心 SAM)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2468880"/>
            <a:ext cx="2560320" cy="45720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2542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324 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468880"/>
            <a:ext cx="2560320" cy="45720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542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1,030 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468880"/>
            <a:ext cx="2560320" cy="45720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2542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t>3.2x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971800"/>
            <a:ext cx="3200400" cy="45720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044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其中需 GPU 算力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40" y="2971800"/>
            <a:ext cx="2560320" cy="45720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3044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194 万 (60%)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971800"/>
            <a:ext cx="2560320" cy="45720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044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720 万 (70%)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2971800"/>
            <a:ext cx="2560320" cy="45720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3044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00FF88"/>
                </a:solidFill>
                <a:latin typeface="PingFang SC"/>
              </a:defRPr>
            </a:pPr>
            <a:r>
              <a:t>3.7x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566160"/>
            <a:ext cx="5303520" cy="2286000"/>
          </a:xfrm>
          <a:prstGeom prst="rect">
            <a:avLst/>
          </a:prstGeom>
          <a:solidFill>
            <a:srgbClr val="12182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657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00D4FF"/>
                </a:solidFill>
                <a:latin typeface="PingFang SC"/>
              </a:defRPr>
            </a:pPr>
            <a:r>
              <a:t>为什么「需 GPU」比例从 60% → 70%？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0690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• AI 正从「大模型公司专属」变成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  「所有软件的基础设施」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• 五年后，不做 AI 功能的 App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  就像今天不联网的 App 一样罕见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• 前端/UI/后端开发者都将被拉入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  AI 开发 — Cursor 让非 ML 工程师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  也能调模型、做微调、跑推理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566160"/>
            <a:ext cx="5394960" cy="2286000"/>
          </a:xfrm>
          <a:prstGeom prst="rect">
            <a:avLst/>
          </a:prstGeom>
          <a:solidFill>
            <a:srgbClr val="12182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657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人均 GPU 消费：涨还是跌？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0690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↓  推理效率提升 → 同样效果只需 1/10 算力</a:t>
            </a:r>
          </a:p>
          <a:p>
            <a:pPr algn="l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↑  AI Agent 调用链变长 → 一次任务调 10-50 次</a:t>
            </a:r>
          </a:p>
          <a:p>
            <a:pPr algn="l">
              <a:lnSpc>
                <a:spcPts val="18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↑  Token 价格暴跌 → 用量弹性 &gt; 1（Jevons 悖论）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净效应：人均 GPU 消费持续上升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证据：Token 价格降了 90%+，但日均调用量</a:t>
            </a:r>
          </a:p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从 1,000 亿涨到 140 万亿 — 涨了 1,000 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solidFill>
            <a:srgbClr val="12182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SAM 3.2 倍 × 人均 GPU 消费 1.5-2 倍 → 可服务市场从 50 亿 → 200-300 亿  |  这正是 A 轮窗口（M18-M24）的逻辑基础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退出收益测算 · 建模假设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所有参数可溯源至商业计划书 V3  |  偏差项用行业惯例补齐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种子轮投资额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447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200 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4447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t>BP 明确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38528"/>
            <a:ext cx="1106424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种子轮股权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12.5%（10%-15% 中值）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t>BP 明确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05456"/>
            <a:ext cx="1106424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78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期权池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5786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15%（种子轮）→ 20%（A 轮前）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786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t>BP + 行业惯例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72384"/>
            <a:ext cx="1106424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455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A 轮融资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1455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2,000 万（1,500-2,500 万中值）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1455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t>BP 明确 · M18-M20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39312"/>
            <a:ext cx="1106424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124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A 轮投前估值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7124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~8,600 万（ARR ~720万 × 12x）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7124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t>BP 参考 + SaaS 中值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79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B 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2793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3 年退出场景下不触发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793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t>BP: B轮在 2028-2029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73168"/>
            <a:ext cx="1106424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退出倍数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ARR 6x-9x（中值 7.5x）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t>收窄自 BP 5-10x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340096"/>
            <a:ext cx="11064240" cy="50292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413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三年 ARR 三情景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4132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00FF88"/>
                </a:solidFill>
                <a:latin typeface="PingFang SC"/>
              </a:defRPr>
            </a:pPr>
            <a:r>
              <a:t>保守 1,620 / 基准 3,600 / 乐观 8,640 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4132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defRPr sz="1000" b="0">
                <a:solidFill>
                  <a:srgbClr val="555E6B"/>
                </a:solidFill>
                <a:latin typeface="PingFang SC"/>
              </a:defRPr>
            </a:pPr>
            <a:r>
              <a:t>BP 5.4 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solidFill>
            <a:srgbClr val="12182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t>核心差异：BP 中的「9-27 倍」是稀释前理论值。本测算计入 A 轮稀释（期权池扩 + A 轮新发），推算投资人实际到手回报。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股权稀释路径：200 万买的 12.5%，三年后还剩多少？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种子 → 期权池扩张 → A 轮 → 退出  |  累计稀释 ~24%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228600" cy="2286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19072"/>
            <a:ext cx="25400" cy="5029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M0 · 种子轮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13716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4264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0A0E17"/>
                </a:solidFill>
                <a:latin typeface="PingFang SC"/>
              </a:defRPr>
            </a:pPr>
            <a:r>
              <a:t>12.50%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264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FF6B35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2646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200 万买入，期权池 15% 从创始人出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228600" cy="228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542032"/>
            <a:ext cx="2540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M18 · 期权池 15%→20%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194560"/>
            <a:ext cx="13716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249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0A0E17"/>
                </a:solidFill>
                <a:latin typeface="PingFang SC"/>
              </a:defRPr>
            </a:pPr>
            <a:r>
              <a:t>11.76%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494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FF6B35"/>
                </a:solidFill>
                <a:latin typeface="PingFang SC"/>
              </a:defRPr>
            </a:pPr>
            <a:r>
              <a:t>-5.9%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24942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扩池 5%，种/创按比例稀释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54680"/>
            <a:ext cx="228600" cy="228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364992"/>
            <a:ext cx="2540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M18 · A 轮 close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017520"/>
            <a:ext cx="1371600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0723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0A0E17"/>
                </a:solidFill>
                <a:latin typeface="PingFang SC"/>
              </a:defRPr>
            </a:pPr>
            <a:r>
              <a:t>9.55%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07238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FF6B35"/>
                </a:solidFill>
                <a:latin typeface="PingFang SC"/>
              </a:defRPr>
            </a:pPr>
            <a:r>
              <a:t>-18.8%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0723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A 轮新发 ~18.8%，全体稀释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77640"/>
            <a:ext cx="228600" cy="2286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M36 · 退出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840480"/>
            <a:ext cx="13716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8953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defRPr sz="2000" b="1">
                <a:solidFill>
                  <a:srgbClr val="0A0E17"/>
                </a:solidFill>
                <a:latin typeface="PingFang SC"/>
              </a:defRPr>
            </a:pPr>
            <a:r>
              <a:t>9.55%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8953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FF6B35"/>
                </a:solidFill>
                <a:latin typeface="PingFang SC"/>
              </a:defRPr>
            </a:pPr>
            <a: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8953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三年期满，最终持股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54880"/>
            <a:ext cx="5303520" cy="1645920"/>
          </a:xfrm>
          <a:prstGeom prst="rect">
            <a:avLst/>
          </a:prstGeom>
          <a:solidFill>
            <a:srgbClr val="12182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846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t>稀释总结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212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FFFFFF"/>
                </a:solidFill>
                <a:latin typeface="PingFang SC"/>
              </a:defRPr>
            </a:pPr>
            <a:r>
              <a:t>种子轮 12.5% → 退出时 ~9.55%</a:t>
            </a:r>
          </a:p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名义股权打 76 折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555E6B"/>
                </a:solidFill>
                <a:latin typeface="PingFang SC"/>
              </a:defRPr>
            </a:pPr>
            <a:r>
              <a:t>行业正常水平：种子→退出 20-30% 稀释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555E6B"/>
                </a:solidFill>
                <a:latin typeface="PingFang SC"/>
              </a:defRPr>
            </a:pPr>
            <a:r>
              <a:t>属于标准区间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754880"/>
            <a:ext cx="5394960" cy="1645920"/>
          </a:xfrm>
          <a:prstGeom prst="rect">
            <a:avLst/>
          </a:prstGeom>
          <a:solidFill>
            <a:srgbClr val="121824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846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FF6B35"/>
                </a:solidFill>
                <a:latin typeface="PingFang SC"/>
              </a:defRPr>
            </a:pPr>
            <a:r>
              <a:t>若触发 B 轮（5 年退出场景）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212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FFFFFF"/>
                </a:solidFill>
                <a:latin typeface="PingFang SC"/>
              </a:defRPr>
            </a:pPr>
            <a:r>
              <a:t>B 轮 5,000 万-1 亿  →  额外稀释 ~15-20%</a:t>
            </a:r>
          </a:p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最终持股 ~6.5-7.5%</a:t>
            </a:r>
          </a:p>
          <a:p>
            <a:pPr algn="l">
              <a:lnSpc>
                <a:spcPts val="18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但退出估值可能翻倍（ARR 过亿）</a:t>
            </a:r>
          </a:p>
          <a:p>
            <a:pPr algn="l">
              <a:lnSpc>
                <a:spcPts val="18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净回报通常更高 — 饼更大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全情景退出回报矩阵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200 万投入 → 种子投资人实际到手（含 A 轮稀释至 9.55%）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defRPr sz="1300" b="1">
                <a:solidFill>
                  <a:srgbClr val="8893A0"/>
                </a:solidFill>
                <a:latin typeface="PingFang SC"/>
              </a:defRPr>
            </a:pPr>
            <a:r>
              <a:t>退出估值 = M36 ARR × 倍数  |  种子回报 = 退出估值 × 9.55%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37160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4650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情景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1691640"/>
            <a:ext cx="137160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74650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ARR (万)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91640"/>
            <a:ext cx="137160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74650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退出倍数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691640"/>
            <a:ext cx="164592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4650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退出估值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91640"/>
            <a:ext cx="182880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4650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种子回报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128016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4650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MOIC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1691640"/>
            <a:ext cx="146304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746504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A0E17"/>
                </a:solidFill>
                <a:latin typeface="PingFang SC"/>
              </a:defRPr>
            </a:pPr>
            <a:r>
              <a:t>3年 IRR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67128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22199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保守·低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2167128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222199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1,620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167128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22199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5x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167128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22199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0.81 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167128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22199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774 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167128"/>
            <a:ext cx="128016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22199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3.9x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0" y="2167128"/>
            <a:ext cx="14630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221992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57%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642616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269748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保守·高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2642616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20240" y="269748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1,620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2642616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0" y="269748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7x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2642616"/>
            <a:ext cx="16459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269748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1.13 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642616"/>
            <a:ext cx="18288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269748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1,079 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2642616"/>
            <a:ext cx="128016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269748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5.4x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2642616"/>
            <a:ext cx="146304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20" y="2697480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75%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118104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17296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基准·低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3118104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20240" y="317296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3,600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3118104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0" y="3172968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6x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3118104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0" y="317296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2.16 亿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60" y="3118104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172968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2,063 万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38160" y="3118104"/>
            <a:ext cx="128016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3172968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10.3x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3118104"/>
            <a:ext cx="14630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18320" y="3172968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117%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3593592"/>
            <a:ext cx="1371600" cy="411480"/>
          </a:xfrm>
          <a:prstGeom prst="rect">
            <a:avLst/>
          </a:prstGeom>
          <a:solidFill>
            <a:srgbClr val="0A2820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364845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200" b="1">
                <a:solidFill>
                  <a:srgbClr val="00FF88"/>
                </a:solidFill>
                <a:latin typeface="PingFang SC"/>
              </a:defRPr>
            </a:pPr>
            <a:r>
              <a:t>基准·中 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20240" y="3593592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20240" y="364845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3,600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91840" y="3593592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91840" y="3648456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7.5x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63440" y="3593592"/>
            <a:ext cx="16459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63440" y="3648456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2.70 亿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0" y="3593592"/>
            <a:ext cx="18288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09360" y="3648456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2,579 万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38160" y="3593592"/>
            <a:ext cx="128016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38160" y="3648456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12.9x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18320" y="3593592"/>
            <a:ext cx="146304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0" y="3648456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134%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4069080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412394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基准·高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20240" y="4069080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20240" y="412394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3,600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91840" y="4069080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91840" y="4123944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9x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63440" y="4069080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63440" y="412394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3.24 亿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09360" y="4069080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09360" y="4123944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3,094 万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38160" y="4069080"/>
            <a:ext cx="128016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38160" y="4123944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15.4x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18320" y="4069080"/>
            <a:ext cx="14630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18320" y="4123944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149%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4544568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459943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乐观·低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20240" y="4544568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20240" y="459943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8,640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91840" y="4544568"/>
            <a:ext cx="13716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291840" y="459943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8x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63440" y="4544568"/>
            <a:ext cx="164592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63440" y="459943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6.91 亿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09360" y="4544568"/>
            <a:ext cx="182880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09360" y="459943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6,599 万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138160" y="4544568"/>
            <a:ext cx="128016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138160" y="4599432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33.0x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418320" y="4544568"/>
            <a:ext cx="1463040" cy="411480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418320" y="4599432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220%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5020056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8640" y="507492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乐观·高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920240" y="5020056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920240" y="507492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8,640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91840" y="5020056"/>
            <a:ext cx="13716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91840" y="5074920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00FF88"/>
                </a:solidFill>
                <a:latin typeface="PingFang SC"/>
              </a:defRPr>
            </a:pPr>
            <a:r>
              <a:t>10x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63440" y="5020056"/>
            <a:ext cx="164592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663440" y="507492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8.64 亿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309360" y="5020056"/>
            <a:ext cx="182880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309360" y="507492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FFFFFF"/>
                </a:solidFill>
                <a:latin typeface="PingFang SC"/>
              </a:defRPr>
            </a:pPr>
            <a:r>
              <a:t>8,251 万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138160" y="5020056"/>
            <a:ext cx="128016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138160" y="5074920"/>
            <a:ext cx="1280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00FF88"/>
                </a:solidFill>
                <a:latin typeface="PingFang SC"/>
              </a:defRPr>
            </a:pPr>
            <a:r>
              <a:t>41.3x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418320" y="5020056"/>
            <a:ext cx="1463040" cy="411480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418320" y="5074920"/>
            <a:ext cx="1463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1">
                <a:solidFill>
                  <a:srgbClr val="FFFFFF"/>
                </a:solidFill>
                <a:latin typeface="PingFang SC"/>
              </a:defRPr>
            </a:pPr>
            <a:r>
              <a:t>245%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8640" y="5257800"/>
            <a:ext cx="11064240" cy="1280160"/>
          </a:xfrm>
          <a:prstGeom prst="rect">
            <a:avLst/>
          </a:prstGeom>
          <a:solidFill>
            <a:srgbClr val="121824"/>
          </a:solidFill>
          <a:ln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2960" y="5349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600" b="1">
                <a:solidFill>
                  <a:srgbClr val="00FF88"/>
                </a:solidFill>
                <a:latin typeface="PingFang SC"/>
              </a:defRPr>
            </a:pPr>
            <a:r>
              <a:t>基准方案（最可能）：ARR 3,600 万 → 退出估值 2.70 亿 → 种子回报 2,579 万 → 12.9x MOIC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300" b="0">
                <a:solidFill>
                  <a:srgbClr val="FFFFFF"/>
                </a:solidFill>
                <a:latin typeface="PingFang SC"/>
              </a:defRPr>
            </a:pPr>
            <a:r>
              <a:t>保守方案底线：ARR 1,620 万 + 最低倍数 → 仍有 3.9x MOIC → 拿回近 4 倍，远高于「亏钱」线</a:t>
            </a:r>
          </a:p>
          <a:p>
            <a:pPr algn="l">
              <a:lnSpc>
                <a:spcPts val="1800"/>
              </a:lnSpc>
              <a:defRPr sz="1300" b="0">
                <a:solidFill>
                  <a:srgbClr val="00FF88"/>
                </a:solidFill>
                <a:latin typeface="PingFang SC"/>
              </a:defRPr>
            </a:pPr>
            <a:r>
              <a:t>乐观方案上限：ARR 8,640 万 + 战略溢价 → 41x MOIC → 200 万变 8,200 万，基金回报级项目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投资人视角：三个关键阈值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回本线  ·  目标线  ·  超额线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9903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0A0E17"/>
                </a:solidFill>
                <a:latin typeface="PingFang SC"/>
              </a:defRPr>
            </a:pPr>
            <a:r>
              <a:t>🟢 回本线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00FF88"/>
                </a:solidFill>
                <a:latin typeface="PingFang SC"/>
              </a:defRPr>
            </a:pPr>
            <a:r>
              <a:t>ARR ~280-420 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不到 M12 目标即可回本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3566160" cy="22860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5292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退出估值 = 200 万 ÷ 9.55% = 2,094 万</a:t>
            </a:r>
            <a:br/>
            <a:r>
              <a:t>ARR = 2,094 ÷ 5~7.5x = 279~419 万</a:t>
            </a:r>
            <a:br/>
            <a:br/>
            <a:r>
              <a:t>→ M6-M10 之间就能跨过</a:t>
            </a:r>
            <a:br/>
            <a:r>
              <a:t>→ 下行风险极低，本金安全垫厚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9903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0A0E17"/>
                </a:solidFill>
                <a:latin typeface="PingFang SC"/>
              </a:defRPr>
            </a:pPr>
            <a:r>
              <a:t>🔵 目标线 · 10x MOIC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9202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00FF88"/>
                </a:solidFill>
                <a:latin typeface="PingFang SC"/>
              </a:defRPr>
            </a:pPr>
            <a:r>
              <a:t>ARR ~2,800 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945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VC 种子轮及格门槛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468880"/>
            <a:ext cx="3566160" cy="22860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85292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10x MOIC = 2,000 万 ÷ 9.55% = 2.09 亿</a:t>
            </a:r>
            <a:br/>
            <a:r>
              <a:t>ARR = 2.09 亿 ÷ 7.5x = 2,793 万</a:t>
            </a:r>
            <a:br/>
            <a:br/>
            <a:r>
              <a:t>→ 基准方案 3,600 万完全覆盖</a:t>
            </a:r>
            <a:br/>
            <a:r>
              <a:t>→ 按计划执行 = 投资人满意回报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356616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39903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0A0E17"/>
                </a:solidFill>
                <a:latin typeface="PingFang SC"/>
              </a:defRPr>
            </a:pPr>
            <a:r>
              <a:t>🟣 超额线 · 20x MOIC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9202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00FF88"/>
                </a:solidFill>
                <a:latin typeface="PingFang SC"/>
              </a:defRPr>
            </a:pPr>
            <a:r>
              <a:t>ARR ~5,600 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9456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基金回报级项目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2468880"/>
            <a:ext cx="3566160" cy="228600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85292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20x MOIC = 4,000 万 ÷ 9.55% = 4.19 亿</a:t>
            </a:r>
            <a:br/>
            <a:r>
              <a:t>ARR = 4.19 亿 ÷ 7.5x = 5,587 万</a:t>
            </a:r>
            <a:br/>
            <a:br/>
            <a:r>
              <a:t>→ 乐观方案 8,640 万轻松超过</a:t>
            </a:r>
            <a:br/>
            <a:r>
              <a:t>→ 基准方案接近但差一点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算力通 vs 典型种子轮 SaaS 项目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40680"/>
            <a:ext cx="2560320" cy="3291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681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0A0E17"/>
                </a:solidFill>
                <a:latin typeface="PingFang SC"/>
              </a:defRPr>
            </a:pPr>
            <a:r>
              <a:t>指标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5440680"/>
            <a:ext cx="2651760" cy="3291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54681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0A0E17"/>
                </a:solidFill>
                <a:latin typeface="PingFang SC"/>
              </a:defRPr>
            </a:pPr>
            <a:r>
              <a:t>典型 SaaS 种子轮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5440680"/>
            <a:ext cx="3017520" cy="3291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54681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0A0E17"/>
                </a:solidFill>
                <a:latin typeface="PingFang SC"/>
              </a:defRPr>
            </a:pPr>
            <a:r>
              <a:t>算力通(基准,含稀释)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5440680"/>
            <a:ext cx="2834640" cy="3291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54681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0A0E17"/>
                </a:solidFill>
                <a:latin typeface="PingFang SC"/>
              </a:defRPr>
            </a:pPr>
            <a:r>
              <a:t>优势来源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06440"/>
            <a:ext cx="2560320" cy="329184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33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3 年 MOIC 中位数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5806440"/>
            <a:ext cx="2651760" cy="329184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0" y="58338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3-5x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5806440"/>
            <a:ext cx="3017520" cy="329184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5833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00FF88"/>
                </a:solidFill>
                <a:latin typeface="PingFang SC"/>
              </a:defRPr>
            </a:pPr>
            <a:r>
              <a:t>12.9x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5806440"/>
            <a:ext cx="2834640" cy="329184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58338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毛利率结构好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172200"/>
            <a:ext cx="2560320" cy="329184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1996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3 年 IRR 中位数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0" y="6172200"/>
            <a:ext cx="2651760" cy="329184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0" y="619963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40-60%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6172200"/>
            <a:ext cx="3017520" cy="329184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61996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134%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0" y="6172200"/>
            <a:ext cx="2834640" cy="329184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61996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资本效率高 LTV/CAC=16:1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537960"/>
            <a:ext cx="2560320" cy="329184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565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回本概率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6537960"/>
            <a:ext cx="2651760" cy="329184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0" y="65653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~60%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6537960"/>
            <a:ext cx="3017520" cy="329184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0" y="65653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&gt;95%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78240" y="6537960"/>
            <a:ext cx="2834640" cy="329184"/>
          </a:xfrm>
          <a:prstGeom prst="rect">
            <a:avLst/>
          </a:prstGeom>
          <a:solidFill>
            <a:srgbClr val="121824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6565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ARR 仅需 280 万即回本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903720"/>
            <a:ext cx="2560320" cy="329184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931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10x 概率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8960" y="6903720"/>
            <a:ext cx="2651760" cy="329184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0" y="69311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~15-20%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720" y="6903720"/>
            <a:ext cx="3017520" cy="329184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0" y="6931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&gt;50%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78240" y="6903720"/>
            <a:ext cx="2834640" cy="329184"/>
          </a:xfrm>
          <a:prstGeom prst="rect">
            <a:avLst/>
          </a:prstGeom>
          <a:solidFill>
            <a:srgbClr val="0A0E17"/>
          </a:solidFill>
          <a:ln w="381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78240" y="69311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PingFang SC"/>
              </a:defRPr>
            </a:pPr>
            <a:r>
              <a:t>ARR 2,800 万即可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最大变量不是 ARR，是「谁买」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财务退出 (ARR × 倍数) 是地面  ·  战略收购是天花板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1">
                <a:solidFill>
                  <a:srgbClr val="FFFFFF"/>
                </a:solidFill>
                <a:latin typeface="PingFang SC"/>
              </a:defRPr>
            </a:pPr>
            <a:r>
              <a:t>两种估值逻辑的差异</a:t>
            </a:r>
          </a:p>
          <a:p>
            <a:pPr algn="l">
              <a:lnSpc>
                <a:spcPts val="1800"/>
              </a:lnSpc>
              <a:defRPr sz="600" b="0">
                <a:solidFill>
                  <a:srgbClr val="8893A0"/>
                </a:solidFill>
                <a:latin typeface="PingFang SC"/>
              </a:defRPr>
            </a:pPr>
          </a:p>
          <a:p>
            <a:pPr algn="l">
              <a:lnSpc>
                <a:spcPts val="18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财务退出：估值 = ARR × 倍数 → 基于当下收入</a:t>
            </a:r>
          </a:p>
          <a:p>
            <a:pPr algn="l">
              <a:lnSpc>
                <a:spcPts val="1800"/>
              </a:lnSpc>
              <a:defRPr sz="1400" b="0">
                <a:solidFill>
                  <a:srgbClr val="00FF88"/>
                </a:solidFill>
                <a:latin typeface="PingFang SC"/>
              </a:defRPr>
            </a:pPr>
            <a:r>
              <a:t>战略收购：估值 = 用户价值 × 战略溢价 → 基于「买下你能省我多少时间/钱」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365760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79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A0E17"/>
                </a:solidFill>
                <a:latin typeface="PingFang SC"/>
              </a:defRPr>
            </a:pPr>
            <a:r>
              <a:t>阿里云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3657600" cy="128016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53872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缺「个人开发者」用户层</a:t>
            </a:r>
            <a:br/>
            <a:r>
              <a:t>算力通的 3,000 付费用户</a:t>
            </a:r>
            <a:br/>
            <a:r>
              <a:t>是 PAI 触达不到的长尾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3657600" cy="10972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91032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→ 年收入是算力通 SAM 200 倍</a:t>
            </a:r>
            <a:br/>
            <a:r>
              <a:t>→ 为一个功能改造后台不划算</a:t>
            </a:r>
            <a:br/>
            <a:r>
              <a:t>→ 买下来最省事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651760"/>
            <a:ext cx="365760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679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A0E17"/>
                </a:solidFill>
                <a:latin typeface="PingFang SC"/>
              </a:defRPr>
            </a:pPr>
            <a:r>
              <a:t>字节·火山引擎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3154680"/>
            <a:ext cx="3657600" cy="128016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53872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正在追赶阿里云/华为云</a:t>
            </a:r>
            <a:br/>
            <a:r>
              <a:t>需要现成的用户入口</a:t>
            </a:r>
            <a:br/>
            <a:r>
              <a:t>比价引擎 =「去哪儿」模式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4526280"/>
            <a:ext cx="3657600" cy="10972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91032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→ 2015 携程合并去哪儿</a:t>
            </a:r>
            <a:br/>
            <a:r>
              <a:t>→ 比价平台被上游收购</a:t>
            </a:r>
            <a:br/>
            <a:r>
              <a:t>→ 是最经典的互联网退出路径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651760"/>
            <a:ext cx="36576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679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A0E17"/>
                </a:solidFill>
                <a:latin typeface="PingFang SC"/>
              </a:defRPr>
            </a:pPr>
            <a:r>
              <a:t>华为云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154680"/>
            <a:ext cx="3657600" cy="128016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53872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昇腾芯片正在铺量</a:t>
            </a:r>
            <a:br/>
            <a:r>
              <a:t>需要线上销售渠道</a:t>
            </a:r>
            <a:br/>
            <a:r>
              <a:t>算力通 = 昇腾的「天猫」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526280"/>
            <a:ext cx="3657600" cy="109728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91032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  <a:r>
              <a:t>→ 国产替代是国家级战略</a:t>
            </a:r>
            <a:br/>
            <a:r>
              <a:t>→ 渠道比芯片更稀缺</a:t>
            </a:r>
            <a:br/>
            <a:r>
              <a:t>→ 战略价值可能远超财务估值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solidFill>
            <a:srgbClr val="12182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806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800" b="1">
                <a:solidFill>
                  <a:srgbClr val="00FF88"/>
                </a:solidFill>
                <a:latin typeface="PingFang SC"/>
              </a:defRPr>
            </a:pPr>
            <a:r>
              <a:t>财务退出 12.9x MOIC 是保底  →  战略收购可轻松翻到 20x+</a:t>
            </a:r>
          </a:p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但战略收购可遇不可求 — 不能作为融资假设，只能作为上行惊喜。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000" b="1">
                <a:solidFill>
                  <a:srgbClr val="FFFFFF"/>
                </a:solidFill>
                <a:latin typeface="PingFang SC"/>
              </a:defRPr>
            </a:pPr>
            <a:r>
              <a:t>风险调整后的结论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defRPr sz="1400" b="0">
                <a:solidFill>
                  <a:srgbClr val="8893A0"/>
                </a:solidFill>
                <a:latin typeface="PingFang SC"/>
              </a:defRPr>
            </a:pPr>
            <a:r>
              <a:t>算力通的回报特征在种子轮项目中属于优质档位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990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0A0E17"/>
                </a:solidFill>
                <a:latin typeface="PingFang SC"/>
              </a:defRPr>
            </a:pPr>
            <a:r>
              <a:t>下行保护极强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657600" cy="164592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ARR 仅需 280 万即回本</a:t>
            </a:r>
            <a:br/>
            <a:r>
              <a:t>保守方案仍 3.9x MOIC</a:t>
            </a:r>
            <a:br/>
            <a:r>
              <a:t>本金亏损概率 &lt; 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6576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990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0A0E17"/>
                </a:solidFill>
                <a:latin typeface="PingFang SC"/>
              </a:defRPr>
            </a:pPr>
            <a:r>
              <a:t>基准回报达标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920240"/>
            <a:ext cx="3657600" cy="164592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30428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12.9x MOIC 超过 VC 10x 目标</a:t>
            </a:r>
            <a:br/>
            <a:r>
              <a:t>IRR 134% 远超替代投资</a:t>
            </a:r>
            <a:br/>
            <a:r>
              <a:t>LTV/CAC = 16:1 模型健康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9903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0A0E17"/>
                </a:solidFill>
                <a:latin typeface="PingFang SC"/>
              </a:defRPr>
            </a:pPr>
            <a:r>
              <a:t>上行空间可观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920240"/>
            <a:ext cx="3657600" cy="1645920"/>
          </a:xfrm>
          <a:prstGeom prst="rect">
            <a:avLst/>
          </a:prstGeom>
          <a:solidFill>
            <a:srgbClr val="121824"/>
          </a:solidFill>
          <a:ln w="6350">
            <a:solidFill>
              <a:srgbClr val="1E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304288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200" b="0">
                <a:solidFill>
                  <a:srgbClr val="8893A0"/>
                </a:solidFill>
                <a:latin typeface="PingFang SC"/>
              </a:defRPr>
            </a:pPr>
            <a:r>
              <a:t>乐观方案 41x MOIC</a:t>
            </a:r>
            <a:br/>
            <a:r>
              <a:t>战略收购可能翻倍</a:t>
            </a:r>
            <a:br/>
            <a:r>
              <a:t>SAM 3.2 倍增长提供顺风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11064240" cy="2560320"/>
          </a:xfrm>
          <a:prstGeom prst="rect">
            <a:avLst/>
          </a:prstGeom>
          <a:solidFill>
            <a:srgbClr val="12182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00D4FF"/>
                </a:solidFill>
                <a:latin typeface="PingFang SC"/>
              </a:defRPr>
            </a:pPr>
            <a:r>
              <a:t>为什么算力通比大多数种子轮 SaaS 更安全？三个「低」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回本线极低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343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代理模式不烧钱</a:t>
            </a:r>
            <a:br/>
            <a:r>
              <a:t>每个用户都是正向现金流</a:t>
            </a:r>
            <a:br/>
            <a:r>
              <a:t>M6-M10 即可盈亏平衡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343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ARR 280 万即回本 vs 典型 500-1,000 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资本效率高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983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LTV/CAC = 16:1</a:t>
            </a:r>
            <a:br/>
            <a:r>
              <a:t>不需要烧钱换增长</a:t>
            </a:r>
            <a:br/>
            <a:r>
              <a:t>内容营销 + 社区驱动获客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983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行业健康线 LTV/CAC ≥ 3:1</a:t>
            </a:r>
            <a:br/>
            <a:r>
              <a:t>算力通是 5 倍于健康线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00FF88"/>
                </a:solidFill>
                <a:latin typeface="PingFang SC"/>
              </a:defRPr>
            </a:pPr>
            <a:r>
              <a:t>退出倍数有锚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PingFang SC"/>
              </a:defRPr>
            </a:pPr>
            <a:r>
              <a:t>CoreWeave 12x ARR IPO</a:t>
            </a:r>
            <a:br/>
            <a:r>
              <a:t>Paperspace 8x 被收购</a:t>
            </a:r>
            <a:br/>
            <a:r>
              <a:t>算力平台估值有公开对标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8893A0"/>
                </a:solidFill>
                <a:latin typeface="PingFang SC"/>
              </a:defRPr>
            </a:pPr>
            <a:r>
              <a:t>纯 SaaS 估值靠「讲增长故事」</a:t>
            </a:r>
            <a:br/>
            <a:r>
              <a:t>算力通有硬资产 + 可比交易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00"/>
              </a:lnSpc>
              <a:defRPr sz="4200" b="1">
                <a:solidFill>
                  <a:srgbClr val="FFFFFF"/>
                </a:solidFill>
                <a:latin typeface="PingFang SC"/>
              </a:defRPr>
            </a:pPr>
            <a:r>
              <a:t>算力通 · 投资人深度分析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377440"/>
            <a:ext cx="39319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2000" b="0">
                <a:solidFill>
                  <a:srgbClr val="8893A0"/>
                </a:solidFill>
                <a:latin typeface="PingFang SC"/>
              </a:defRPr>
            </a:pPr>
            <a:r>
              <a:t>市场构成  ·  开发者趋势  ·  退出收益</a:t>
            </a:r>
          </a:p>
          <a:p>
            <a:pPr algn="ctr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</a:p>
          <a:p>
            <a:pPr algn="ctr">
              <a:lnSpc>
                <a:spcPts val="1800"/>
              </a:lnSpc>
              <a:defRPr sz="1400" b="0">
                <a:solidFill>
                  <a:srgbClr val="555E6B"/>
                </a:solidFill>
                <a:latin typeface="PingFang SC"/>
              </a:defRPr>
            </a:pPr>
            <a:r>
              <a:t>本报告基于商业计划书 V3 数据与公开行业资料</a:t>
            </a:r>
          </a:p>
          <a:p>
            <a:pPr algn="ctr">
              <a:lnSpc>
                <a:spcPts val="1800"/>
              </a:lnSpc>
              <a:defRPr sz="1400" b="0">
                <a:solidFill>
                  <a:srgbClr val="555E6B"/>
                </a:solidFill>
                <a:latin typeface="PingFang SC"/>
              </a:defRPr>
            </a:pPr>
            <a:r>
              <a:t>不构成投资建议  ·  仅供种子轮投资人审阅</a:t>
            </a:r>
          </a:p>
          <a:p>
            <a:pPr algn="ctr">
              <a:lnSpc>
                <a:spcPts val="1800"/>
              </a:lnSpc>
              <a:defRPr sz="1000" b="0">
                <a:solidFill>
                  <a:srgbClr val="8893A0"/>
                </a:solidFill>
                <a:latin typeface="PingFang SC"/>
              </a:defRPr>
            </a:pPr>
          </a:p>
          <a:p>
            <a:pPr algn="ctr">
              <a:lnSpc>
                <a:spcPts val="1800"/>
              </a:lnSpc>
              <a:defRPr sz="1800" b="1">
                <a:solidFill>
                  <a:srgbClr val="00FF88"/>
                </a:solidFill>
                <a:latin typeface="PingFang SC"/>
              </a:defRPr>
            </a:pPr>
            <a:r>
              <a:t>算力通 · 让算力像自来水一样，扭开即用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754880"/>
            <a:ext cx="210312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t>创始人：Eric  |  种子轮 · 200 万 · 10%~15%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