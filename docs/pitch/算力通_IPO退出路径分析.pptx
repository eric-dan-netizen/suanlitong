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4400" b="1">
                <a:solidFill>
                  <a:srgbClr val="FFFFFF"/>
                </a:solidFill>
                <a:latin typeface="PingFang SC"/>
              </a:defRPr>
            </a:pPr>
            <a:r>
              <a:t>算力通 · IPO 退出路径分析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651760"/>
            <a:ext cx="393192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2000" b="0">
                <a:solidFill>
                  <a:srgbClr val="8893A0"/>
                </a:solidFill>
                <a:latin typeface="PingFang SC"/>
              </a:defRPr>
            </a:pPr>
            <a:r>
              <a:t>科创板 / 港股  ·  7-8 年路径  ·  回报率测算</a:t>
            </a:r>
          </a:p>
          <a:p>
            <a:pPr algn="ctr">
              <a:lnSpc>
                <a:spcPts val="18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</a:p>
          <a:p>
            <a:pPr algn="ctr">
              <a:lnSpc>
                <a:spcPts val="1800"/>
              </a:lnSpc>
              <a:defRPr sz="1400" b="0">
                <a:solidFill>
                  <a:srgbClr val="A855F7"/>
                </a:solidFill>
                <a:latin typeface="PingFang SC"/>
              </a:defRPr>
            </a:pPr>
            <a:r>
              <a:t>与 3 年并购退出并行对照  |  种子轮 · 200 万 · 10%~15%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IPO vs 并购：两条退出路径的本质差异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同一个项目，两种退出哲学 — IRR 与 MOIC 的取舍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828800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371600"/>
            <a:ext cx="3017520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426464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并购（3-5年）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371600"/>
            <a:ext cx="3200400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426464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IPO（7-8年）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371600"/>
            <a:ext cx="3200400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426464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差异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47088"/>
            <a:ext cx="18288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01952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退出方式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1847088"/>
            <a:ext cx="30175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1901952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一次性现金/换股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1847088"/>
            <a:ext cx="32004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1901952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公开市场逐步减持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847088"/>
            <a:ext cx="32004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1901952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流动性不同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322576"/>
            <a:ext cx="18288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377440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估值倍数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2322576"/>
            <a:ext cx="30175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2377440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ARR 5-10x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2322576"/>
            <a:ext cx="32004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0680" y="2377440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ARR 8-15x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2322576"/>
            <a:ext cx="32004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2377440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IPO 高 60%+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798064"/>
            <a:ext cx="18288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85292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锁定期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2798064"/>
            <a:ext cx="30175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2852928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2798064"/>
            <a:ext cx="32004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0680" y="285292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6-12 个月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2798064"/>
            <a:ext cx="32004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285292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IPO 有流动性限制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273552"/>
            <a:ext cx="18288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328416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融资轮次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3273552"/>
            <a:ext cx="30175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23160" y="3328416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种子 + A 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3273552"/>
            <a:ext cx="32004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40680" y="3328416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种子 + A + B + 可能 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3273552"/>
            <a:ext cx="32004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41080" y="3328416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IPO 多 2-3 轮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749039"/>
            <a:ext cx="18288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803903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累计稀释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3749039"/>
            <a:ext cx="30175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23160" y="3803903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~24%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94960" y="3749039"/>
            <a:ext cx="32004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40680" y="3803903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~55-60%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0" y="3749039"/>
            <a:ext cx="32004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41080" y="3803903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IPO 多稀释 2.5x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224528"/>
            <a:ext cx="18288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4279392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种子最终持股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77440" y="4224528"/>
            <a:ext cx="30175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23160" y="4279392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~9.5%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94960" y="4224528"/>
            <a:ext cx="32004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40680" y="4279392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~4.9%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4224528"/>
            <a:ext cx="32004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1080" y="4279392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并购是 IPO 的 1.9 倍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700016"/>
            <a:ext cx="18288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4754880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MOIC（基准）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77440" y="4700016"/>
            <a:ext cx="30175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23160" y="4754880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12.9x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94960" y="4700016"/>
            <a:ext cx="32004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40680" y="4754880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25.9x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95360" y="4700016"/>
            <a:ext cx="32004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41080" y="4754880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IPO 高 2x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175504"/>
            <a:ext cx="18288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523036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IRR（基准）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377440" y="5175504"/>
            <a:ext cx="30175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23160" y="5230368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134%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94960" y="5175504"/>
            <a:ext cx="32004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40680" y="523036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59%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95360" y="5175504"/>
            <a:ext cx="32004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41080" y="523036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并购高 2.3x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5650992"/>
            <a:ext cx="18288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5705856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确定性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77440" y="5650992"/>
            <a:ext cx="30175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423160" y="5705856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较高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94960" y="5650992"/>
            <a:ext cx="32004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40680" y="5705856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中低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95360" y="5650992"/>
            <a:ext cx="32004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641080" y="5705856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并购更可控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solidFill>
            <a:srgbClr val="1218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00FF88"/>
                </a:solidFill>
                <a:latin typeface="PingFang SC"/>
              </a:defRPr>
            </a:pPr>
            <a:r>
              <a:t>核心悖论：并购 IRR 高但倍数有限，IPO 倍数高但 IRR 被时间稀释。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种子投资人选哪个，取决于基金存续期和组合策略 — 没有绝对好坏，只有是否匹配。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IPO 路径时间线：5 年太紧，7-8 年更现实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科创板/港股上市门槛 + 业务增速衰减 → 大概率在 Y7-Y8 挂牌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2468880"/>
            <a:ext cx="32004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103120"/>
            <a:ext cx="228600" cy="228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468880"/>
            <a:ext cx="1783080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5146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2026.Q3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0A0E17"/>
                </a:solidFill>
                <a:latin typeface="PingFang SC"/>
              </a:defRPr>
            </a:pPr>
            <a:r>
              <a:t>种子轮</a:t>
            </a:r>
            <a:br/>
            <a:r>
              <a:t>200万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2468880"/>
            <a:ext cx="3200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1800" y="2103120"/>
            <a:ext cx="228600" cy="228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2468880"/>
            <a:ext cx="1783080" cy="2011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5146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2027.Q4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8346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0A0E17"/>
                </a:solidFill>
                <a:latin typeface="PingFang SC"/>
              </a:defRPr>
            </a:pPr>
            <a:r>
              <a:t>A 轮</a:t>
            </a:r>
            <a:br/>
            <a:r>
              <a:t>2,000万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468880"/>
            <a:ext cx="320040" cy="381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2103120"/>
            <a:ext cx="228600" cy="2286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468880"/>
            <a:ext cx="1783080" cy="201168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5146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2029.Q1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8346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0A0E17"/>
                </a:solidFill>
                <a:latin typeface="PingFang SC"/>
              </a:defRPr>
            </a:pPr>
            <a:r>
              <a:t>B 轮</a:t>
            </a:r>
            <a:br/>
            <a:r>
              <a:t>7,500万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2468880"/>
            <a:ext cx="32004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2103120"/>
            <a:ext cx="228600" cy="228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468880"/>
            <a:ext cx="1783080" cy="2011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5146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2031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8346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0A0E17"/>
                </a:solidFill>
                <a:latin typeface="PingFang SC"/>
              </a:defRPr>
            </a:pPr>
            <a:r>
              <a:t>C 轮(可能)</a:t>
            </a:r>
            <a:br/>
            <a:r>
              <a:t>1-2亿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2468880"/>
            <a:ext cx="32004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2103120"/>
            <a:ext cx="228600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2468880"/>
            <a:ext cx="1783080" cy="2011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25146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2032-33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8346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0A0E17"/>
                </a:solidFill>
                <a:latin typeface="PingFang SC"/>
              </a:defRPr>
            </a:pPr>
            <a:r>
              <a:t>IPO申报</a:t>
            </a:r>
            <a:br/>
            <a:r>
              <a:t>科创板/港股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35640" y="2103120"/>
            <a:ext cx="228600" cy="228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95560" y="2468880"/>
            <a:ext cx="1783080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25146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2033-34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28346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0A0E17"/>
                </a:solidFill>
                <a:latin typeface="PingFang SC"/>
              </a:defRPr>
            </a:pPr>
            <a:r>
              <a:t>挂牌交易</a:t>
            </a:r>
            <a:br/>
            <a:r>
              <a:t>市值12-25亿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46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6B35"/>
                </a:solidFill>
                <a:latin typeface="PingFang SC"/>
              </a:defRPr>
            </a:pPr>
            <a:r>
              <a:t>❌  为什么 5 年 IPO 极难？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2120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科创板「软件企业」隐含门槛：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· 年营收 3-5 亿 + 连续盈利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· 或年营收 5 亿+ 且高增长（&gt;30%）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FF6B35"/>
                </a:solidFill>
                <a:latin typeface="PingFang SC"/>
              </a:defRPr>
            </a:pPr>
            <a:r>
              <a:t>· 5 年内从零跑到这个量级 → 必须连续翻倍</a:t>
            </a:r>
          </a:p>
          <a:p>
            <a:pPr algn="l">
              <a:lnSpc>
                <a:spcPts val="1800"/>
              </a:lnSpc>
              <a:defRPr sz="1100" b="1">
                <a:solidFill>
                  <a:srgbClr val="FF6B35"/>
                </a:solidFill>
                <a:latin typeface="PingFang SC"/>
              </a:defRPr>
            </a:pPr>
            <a:r>
              <a:t>→ 概率偏低，不适合作为融资假设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846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00FF88"/>
                </a:solidFill>
                <a:latin typeface="PingFang SC"/>
              </a:defRPr>
            </a:pPr>
            <a:r>
              <a:t>✅  为什么 7-8 年更现实？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2120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Y7 ARR ~1.18 亿 + 高毛利率 + 盈利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· 科创板「关键软件技术」定位可行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· 港股 SaaS 门槛更低、审核更快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00FF88"/>
                </a:solidFill>
                <a:latin typeface="PingFang SC"/>
              </a:defRPr>
            </a:pPr>
            <a:r>
              <a:t>· 增速 20%+ 仍属于高增长公司</a:t>
            </a:r>
          </a:p>
          <a:p>
            <a:pPr algn="l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→ 这是建模的基准假设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ARR 超 Y3 之后：增速自然衰减曲线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从 +150% 到 +15% — 大数法则下 Y4-Y8 外推逻辑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82296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300" b="1">
                <a:solidFill>
                  <a:srgbClr val="0A0E17"/>
                </a:solidFill>
                <a:latin typeface="PingFang SC"/>
              </a:defRPr>
            </a:pPr>
            <a:r>
              <a:t>Y1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6304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360万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46304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8893A0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63040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BP 基准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8528"/>
            <a:ext cx="1106424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011680"/>
            <a:ext cx="82296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300" b="1">
                <a:solidFill>
                  <a:srgbClr val="0A0E17"/>
                </a:solidFill>
                <a:latin typeface="PingFang SC"/>
              </a:defRPr>
            </a:pPr>
            <a:r>
              <a:t>Y2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02996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1,440万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0299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+300%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029968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BP 基准 · 从0到1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05456"/>
            <a:ext cx="1106424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578608"/>
            <a:ext cx="822960" cy="34747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59689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300" b="1">
                <a:solidFill>
                  <a:srgbClr val="0A0E17"/>
                </a:solidFill>
                <a:latin typeface="PingFang SC"/>
              </a:defRPr>
            </a:pPr>
            <a:r>
              <a:t>Y3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59689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3,600万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59689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+150%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596896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BP 基准 · 双轨初显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026664"/>
            <a:ext cx="11064240" cy="127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072384"/>
            <a:ext cx="1106424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145536"/>
            <a:ext cx="82296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6382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300" b="1">
                <a:solidFill>
                  <a:srgbClr val="0A0E17"/>
                </a:solidFill>
                <a:latin typeface="PingFang SC"/>
              </a:defRPr>
            </a:pPr>
            <a:r>
              <a:t>Y4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16382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5,400万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16382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+50%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163824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增速首次跌破100%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39312"/>
            <a:ext cx="1106424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712464"/>
            <a:ext cx="82296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730752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300" b="1">
                <a:solidFill>
                  <a:srgbClr val="0A0E17"/>
                </a:solidFill>
                <a:latin typeface="PingFang SC"/>
              </a:defRPr>
            </a:pPr>
            <a:r>
              <a:t>Y5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373075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7,560万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373075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+40%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730752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存量增长为主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279392"/>
            <a:ext cx="82296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29768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300" b="1">
                <a:solidFill>
                  <a:srgbClr val="0A0E17"/>
                </a:solidFill>
                <a:latin typeface="PingFang SC"/>
              </a:defRPr>
            </a:pPr>
            <a:r>
              <a:t>Y6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429768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9,830万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29768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+30%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4297680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接近SaaS成熟增速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773168"/>
            <a:ext cx="1106424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4846320"/>
            <a:ext cx="822960" cy="34747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86460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300" b="1">
                <a:solidFill>
                  <a:srgbClr val="0A0E17"/>
                </a:solidFill>
                <a:latin typeface="PingFang SC"/>
              </a:defRPr>
            </a:pPr>
            <a:r>
              <a:t>Y7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486460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1.18亿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48646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+20%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4864608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IPO申报窗口 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340096"/>
            <a:ext cx="1106424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" y="5413248"/>
            <a:ext cx="822960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43153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300" b="1">
                <a:solidFill>
                  <a:srgbClr val="0A0E17"/>
                </a:solidFill>
                <a:latin typeface="PingFang SC"/>
              </a:defRPr>
            </a:pPr>
            <a:r>
              <a:t>Y8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543153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1.36亿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160" y="543153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+15%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5431536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挂牌当年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solidFill>
            <a:srgbClr val="12182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6080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Y3→Y7 CAGR ≈ 35%  |  显著低于智能算力市场 46% CAGR  |  保守合理  |  Y3 基准 3,600 万是可信的 IPO 起跑线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稀释全路径：12.5% 走到 IPO 还剩 4.9%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Seed → A → B → C → IPO 发行  |  累计稀释 ~61%，但饼大了 60+ 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88720" y="1371600"/>
            <a:ext cx="274320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17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事件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371600"/>
            <a:ext cx="128016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4173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持股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371600"/>
            <a:ext cx="118872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4173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扩池稀释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118872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新股稀释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371600"/>
            <a:ext cx="182880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417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公司估值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1371600"/>
            <a:ext cx="164592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4173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548640" y="1965960"/>
            <a:ext cx="64008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03911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M0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1965960"/>
            <a:ext cx="274320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20391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种子轮 close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1965960"/>
            <a:ext cx="128016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40" y="20391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00FF88"/>
                </a:solidFill>
                <a:latin typeface="PingFang SC"/>
              </a:defRPr>
            </a:pPr>
            <a:r>
              <a:t>12.50%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1965960"/>
            <a:ext cx="118872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2039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965960"/>
            <a:ext cx="118872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039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1965960"/>
            <a:ext cx="182880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20391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投后 1,600万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1965960"/>
            <a:ext cx="164592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64040" y="20391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548640" y="2560320"/>
            <a:ext cx="64008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263347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M18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" y="2560320"/>
            <a:ext cx="274320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26334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期权池 15%→20% + A轮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0" y="2560320"/>
            <a:ext cx="128016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77640" y="263347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00FF88"/>
                </a:solidFill>
                <a:latin typeface="PingFang SC"/>
              </a:defRPr>
            </a:pPr>
            <a:r>
              <a:t>9.35%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2560320"/>
            <a:ext cx="118872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57800" y="26334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-7.9%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560320"/>
            <a:ext cx="118872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26334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-18.8%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2560320"/>
            <a:ext cx="182880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26334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投后 1.06亿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20" y="2560320"/>
            <a:ext cx="164592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4040" y="26334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</a:p>
        </p:txBody>
      </p:sp>
      <p:sp>
        <p:nvSpPr>
          <p:cNvPr id="47" name="Rectangle 46"/>
          <p:cNvSpPr/>
          <p:nvPr/>
        </p:nvSpPr>
        <p:spPr>
          <a:xfrm>
            <a:off x="548640" y="3154680"/>
            <a:ext cx="64008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2278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M36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88720" y="3154680"/>
            <a:ext cx="274320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34440" y="32278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期权池 refresh + B轮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0" y="3154680"/>
            <a:ext cx="128016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77640" y="32278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00FF88"/>
                </a:solidFill>
                <a:latin typeface="PingFang SC"/>
              </a:defRPr>
            </a:pPr>
            <a:r>
              <a:t>7.05%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2080" y="3154680"/>
            <a:ext cx="118872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57800" y="32278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-8.0%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3154680"/>
            <a:ext cx="118872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32278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-18.0%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89520" y="3154680"/>
            <a:ext cx="182880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35240" y="32278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投后 4.35亿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18320" y="3154680"/>
            <a:ext cx="164592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64040" y="322783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548640" y="3749039"/>
            <a:ext cx="64008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3822191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M60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88720" y="3749039"/>
            <a:ext cx="274320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34440" y="382219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期权池 refresh + C轮(可能)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31920" y="3749039"/>
            <a:ext cx="128016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77640" y="3822191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00FF88"/>
                </a:solidFill>
                <a:latin typeface="PingFang SC"/>
              </a:defRPr>
            </a:pPr>
            <a:r>
              <a:t>5.74%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12080" y="3749039"/>
            <a:ext cx="118872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57800" y="3822191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-7.1%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3749039"/>
            <a:ext cx="118872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46520" y="3822191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-12.5%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0" y="3749039"/>
            <a:ext cx="182880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35240" y="38221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投后 ~13.5亿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18320" y="3749039"/>
            <a:ext cx="1645920" cy="50292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64040" y="382219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</a:p>
        </p:txBody>
      </p:sp>
      <p:sp>
        <p:nvSpPr>
          <p:cNvPr id="75" name="Rectangle 74"/>
          <p:cNvSpPr/>
          <p:nvPr/>
        </p:nvSpPr>
        <p:spPr>
          <a:xfrm>
            <a:off x="548640" y="4343400"/>
            <a:ext cx="64008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4360" y="441655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M84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88720" y="4343400"/>
            <a:ext cx="274320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34440" y="4416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IPO 发行 15% 新股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31920" y="4343400"/>
            <a:ext cx="128016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77640" y="44165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00FF88"/>
                </a:solidFill>
                <a:latin typeface="PingFang SC"/>
              </a:defRPr>
            </a:pPr>
            <a:r>
              <a:t>4.88%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12080" y="4343400"/>
            <a:ext cx="118872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57800" y="44165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0" y="4343400"/>
            <a:ext cx="118872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46520" y="44165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-15.0%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89520" y="4343400"/>
            <a:ext cx="182880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635240" y="44165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市值 10.62亿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18320" y="4343400"/>
            <a:ext cx="164592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464040" y="44165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</a:p>
        </p:txBody>
      </p:sp>
      <p:sp>
        <p:nvSpPr>
          <p:cNvPr id="89" name="Rectangle 88"/>
          <p:cNvSpPr/>
          <p:nvPr/>
        </p:nvSpPr>
        <p:spPr>
          <a:xfrm>
            <a:off x="548640" y="5394960"/>
            <a:ext cx="5303520" cy="1097280"/>
          </a:xfrm>
          <a:prstGeom prst="rect">
            <a:avLst/>
          </a:prstGeom>
          <a:solidFill>
            <a:srgbClr val="12182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" y="54406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800" b="1">
                <a:solidFill>
                  <a:srgbClr val="00FF88"/>
                </a:solidFill>
                <a:latin typeface="PingFang SC"/>
              </a:defRPr>
            </a:pPr>
            <a:r>
              <a:t>股权变小了，但饼大了 60+ 倍</a:t>
            </a:r>
          </a:p>
          <a:p>
            <a:pPr algn="l">
              <a:lnSpc>
                <a:spcPts val="18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种子轮 12.5% → IPO 时 4.88%</a:t>
            </a:r>
          </a:p>
          <a:p>
            <a:pPr algn="l">
              <a:lnSpc>
                <a:spcPts val="18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但公司从 1,600 万 → 10.62 亿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555E6B"/>
                </a:solidFill>
                <a:latin typeface="PingFang SC"/>
              </a:defRPr>
            </a:pPr>
            <a:r>
              <a:t>每一轮「被稀释」= 估值大幅跃升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17920" y="5394960"/>
            <a:ext cx="5394960" cy="1097280"/>
          </a:xfrm>
          <a:prstGeom prst="rect">
            <a:avLst/>
          </a:prstGeom>
          <a:solidFill>
            <a:srgbClr val="121824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92240" y="54406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6B35"/>
                </a:solidFill>
                <a:latin typeface="PingFang SC"/>
              </a:defRPr>
            </a:pPr>
            <a:r>
              <a:t>对比并购路径：</a:t>
            </a:r>
          </a:p>
          <a:p>
            <a:pPr algn="l">
              <a:lnSpc>
                <a:spcPts val="18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t>并购稀释 ~24% → 最终持股 9.55%</a:t>
            </a:r>
          </a:p>
          <a:p>
            <a:pPr algn="l">
              <a:lnSpc>
                <a:spcPts val="1800"/>
              </a:lnSpc>
              <a:defRPr sz="1300" b="0">
                <a:solidFill>
                  <a:srgbClr val="8893A0"/>
                </a:solidFill>
                <a:latin typeface="PingFang SC"/>
              </a:defRPr>
            </a:pPr>
            <a:r>
              <a:t>IPO 稀释 ~61% → 最终持股 4.88%</a:t>
            </a:r>
          </a:p>
          <a:p>
            <a:pPr algn="l">
              <a:lnSpc>
                <a:spcPts val="18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但 IPO 估值是并购的 3.9 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IPO 估值锚：算力平台值多少倍 ARR？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对标 CoreWeave / Paperspace / Lambda  |  科创板/港股折价调整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0817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公司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371600"/>
            <a:ext cx="137160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40817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事件/年份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164592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081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市值/估值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371600"/>
            <a:ext cx="128016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0817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ARR倍数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100584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0817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毛利率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371600"/>
            <a:ext cx="109728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40817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增速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371600"/>
            <a:ext cx="320040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0817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相关性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847088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190195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CoreWeave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1847088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190195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IPO 2025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1847088"/>
            <a:ext cx="16459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190195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~230亿美元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1847088"/>
            <a:ext cx="128016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190195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00FF88"/>
                </a:solidFill>
                <a:latin typeface="PingFang SC"/>
              </a:defRPr>
            </a:pPr>
            <a:r>
              <a:t>~12x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847088"/>
            <a:ext cx="100584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901952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~75%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1847088"/>
            <a:ext cx="109728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190195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+100%+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1847088"/>
            <a:ext cx="32004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1901952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GPU云 · 高度相关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322576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237744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Lambda Labs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2322576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5960" y="237744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融资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2322576"/>
            <a:ext cx="16459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37560" y="237744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~15亿美元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322576"/>
            <a:ext cx="128016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80" y="237744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00FF88"/>
                </a:solidFill>
                <a:latin typeface="PingFang SC"/>
              </a:defRPr>
            </a:pPr>
            <a:r>
              <a:t>~10x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322576"/>
            <a:ext cx="100584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237744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~60%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2322576"/>
            <a:ext cx="109728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9480" y="237744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+80%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2322576"/>
            <a:ext cx="32004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2377440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GPU租赁 · 直接参考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2798064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28529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Paperspace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2798064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65960" y="28529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被收购 2023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2798064"/>
            <a:ext cx="16459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37560" y="285292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1.11亿美元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0" y="2798064"/>
            <a:ext cx="128016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83480" y="285292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~8x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2798064"/>
            <a:ext cx="100584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285292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~55%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23760" y="2798064"/>
            <a:ext cx="109728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69480" y="285292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+30%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40" y="2798064"/>
            <a:ext cx="32004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66760" y="285292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GPU平台 · 高度相关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3273552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332841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UCloud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20240" y="3273552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65960" y="332841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科创板 2020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91840" y="3273552"/>
            <a:ext cx="16459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37560" y="3328416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~150亿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37760" y="3273552"/>
            <a:ext cx="128016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83480" y="332841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~8x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3273552"/>
            <a:ext cx="100584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3328416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~15%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23760" y="3273552"/>
            <a:ext cx="109728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69480" y="3328416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+30%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21040" y="3273552"/>
            <a:ext cx="32004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66760" y="3328416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云计算 · 低毛利参照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3749039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4360" y="3803903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金山云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20240" y="3749039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965960" y="3803903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港股 2022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91840" y="3749039"/>
            <a:ext cx="16459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37560" y="3803903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~80亿港元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37760" y="3749039"/>
            <a:ext cx="128016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83480" y="3803903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~3x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17920" y="3749039"/>
            <a:ext cx="100584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63640" y="3803903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~5%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23760" y="3749039"/>
            <a:ext cx="109728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69480" y="3803903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+10%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21040" y="3749039"/>
            <a:ext cx="32004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66760" y="3803903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纯IaaS · 不可比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640" y="4389120"/>
            <a:ext cx="5486400" cy="2103120"/>
          </a:xfrm>
          <a:prstGeom prst="rect">
            <a:avLst/>
          </a:prstGeom>
          <a:solidFill>
            <a:srgbClr val="12182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" y="4480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00FF88"/>
                </a:solidFill>
                <a:latin typeface="PingFang SC"/>
              </a:defRPr>
            </a:pPr>
            <a:r>
              <a:t>算力通对标分析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960" y="484632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FF6B35"/>
                </a:solidFill>
                <a:latin typeface="PingFang SC"/>
              </a:defRPr>
            </a:pPr>
            <a:r>
              <a:t>❌ 不对标金山云（低毛利 IaaS, 3x）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  算力通毛利率 20%→42%→55%，远超纯 IaaS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200" b="0">
                <a:solidFill>
                  <a:srgbClr val="FF6B35"/>
                </a:solidFill>
                <a:latin typeface="PingFang SC"/>
              </a:defRPr>
            </a:pPr>
            <a:r>
              <a:t>❌ 不直接对标 CoreWeave（12x）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  CoreWeave 自有万卡集群，重资产高壁垒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✅ 合理区间：Paperspace 8x ~ Lambda 10x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  轻资产 GPU 平台，毛利率 40-55%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09360" y="4389120"/>
            <a:ext cx="5303520" cy="2103120"/>
          </a:xfrm>
          <a:prstGeom prst="rect">
            <a:avLst/>
          </a:prstGeom>
          <a:solidFill>
            <a:srgbClr val="1218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583680" y="4480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A855F7"/>
                </a:solidFill>
                <a:latin typeface="PingFang SC"/>
              </a:defRPr>
            </a:pPr>
            <a:r>
              <a:t>A股/港股流动性折价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83680" y="48463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中国公开市场 vs 美股的估值折价：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· 科创板 SaaS：通常 6-10x ARR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· 港股 SaaS：通常 5-8x ARR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· 比美股同类低 10-25%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算力通 IPO 估值倍数：</a:t>
            </a:r>
          </a:p>
          <a:p>
            <a:pPr algn="l">
              <a:lnSpc>
                <a:spcPts val="1800"/>
              </a:lnSpc>
              <a:defRPr sz="1800" b="1">
                <a:solidFill>
                  <a:srgbClr val="A855F7"/>
                </a:solidFill>
                <a:latin typeface="PingFang SC"/>
              </a:defRPr>
            </a:pPr>
            <a:r>
              <a:t>8-10x ARR（取 9x 中值）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IPO 退出：全情景回报矩阵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种子轮 200 万 → 稀释至 4.88% → 7 年退出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8893A0"/>
                </a:solidFill>
                <a:latin typeface="PingFang SC"/>
              </a:defRPr>
            </a:pPr>
            <a:r>
              <a:t>IPO 市值 = ARR × 倍数  |  种子回报 = IPO 市值 × 4.88%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64592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2821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情景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691640"/>
            <a:ext cx="118872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7282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ARR(亿)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91640"/>
            <a:ext cx="100584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72821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倍数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164592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72821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IPO市值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691640"/>
            <a:ext cx="182880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72821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种子回报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691640"/>
            <a:ext cx="118872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7282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MOIC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691640"/>
            <a:ext cx="146304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72821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7年IRR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67128"/>
            <a:ext cx="16459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22199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保守 · Y8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2167128"/>
            <a:ext cx="11887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222199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0.98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167128"/>
            <a:ext cx="100584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22199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00FF88"/>
                </a:solidFill>
                <a:latin typeface="PingFang SC"/>
              </a:defRPr>
            </a:pPr>
            <a:r>
              <a:t>7x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167128"/>
            <a:ext cx="16459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222199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6.86亿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167128"/>
            <a:ext cx="18288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222199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3,348万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2167128"/>
            <a:ext cx="11887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222199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16.7x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2167128"/>
            <a:ext cx="146304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0" y="2221992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50%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2642616"/>
            <a:ext cx="16459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269748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保守 · Y7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2642616"/>
            <a:ext cx="11887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0" y="269748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0.85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2642616"/>
            <a:ext cx="100584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269748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00FF88"/>
                </a:solidFill>
                <a:latin typeface="PingFang SC"/>
              </a:defRPr>
            </a:pPr>
            <a:r>
              <a:t>8x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2642616"/>
            <a:ext cx="16459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269748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6.80亿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2642616"/>
            <a:ext cx="18288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269748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3,318万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2642616"/>
            <a:ext cx="11887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0" y="269748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16.6x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52560" y="2642616"/>
            <a:ext cx="146304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2697480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49%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118104"/>
            <a:ext cx="16459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17296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基准 · Y8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94560" y="3118104"/>
            <a:ext cx="11887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4560" y="31729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1.36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83280" y="3118104"/>
            <a:ext cx="100584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83280" y="317296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00FF88"/>
                </a:solidFill>
                <a:latin typeface="PingFang SC"/>
              </a:defRPr>
            </a:pPr>
            <a:r>
              <a:t>8x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89120" y="3118104"/>
            <a:ext cx="16459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0" y="317296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10.88亿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3118104"/>
            <a:ext cx="18288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35040" y="317296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5,309万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0" y="3118104"/>
            <a:ext cx="11887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63840" y="31729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26.5x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52560" y="3118104"/>
            <a:ext cx="146304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60" y="317296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57%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3593592"/>
            <a:ext cx="1645920" cy="411480"/>
          </a:xfrm>
          <a:prstGeom prst="rect">
            <a:avLst/>
          </a:prstGeom>
          <a:solidFill>
            <a:srgbClr val="150828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3648456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基准 · Y7 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94560" y="3593592"/>
            <a:ext cx="11887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94560" y="364845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1.18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83280" y="3593592"/>
            <a:ext cx="100584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83280" y="3648456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00FF88"/>
                </a:solidFill>
                <a:latin typeface="PingFang SC"/>
              </a:defRPr>
            </a:pPr>
            <a:r>
              <a:t>9x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89120" y="3593592"/>
            <a:ext cx="16459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89120" y="3648456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10.62亿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35040" y="3593592"/>
            <a:ext cx="18288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35040" y="364845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5,183万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63840" y="3593592"/>
            <a:ext cx="11887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63840" y="364845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25.9x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60" y="3593592"/>
            <a:ext cx="146304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52560" y="3648456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59%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4069080"/>
            <a:ext cx="16459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4123944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基准 · Y7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94560" y="4069080"/>
            <a:ext cx="11887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94560" y="4123944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1.18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83280" y="4069080"/>
            <a:ext cx="100584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83280" y="4123944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00FF88"/>
                </a:solidFill>
                <a:latin typeface="PingFang SC"/>
              </a:defRPr>
            </a:pPr>
            <a:r>
              <a:t>10x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89120" y="4069080"/>
            <a:ext cx="16459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89120" y="4123944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11.80亿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35040" y="4069080"/>
            <a:ext cx="18288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35040" y="4123944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5,758万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63840" y="4069080"/>
            <a:ext cx="11887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63840" y="4123944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28.8x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52560" y="4069080"/>
            <a:ext cx="146304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52560" y="4123944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61%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4544568"/>
            <a:ext cx="16459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459943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乐观 · Y7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94560" y="4544568"/>
            <a:ext cx="11887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94560" y="459943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2.10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383280" y="4544568"/>
            <a:ext cx="100584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383280" y="459943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00FF88"/>
                </a:solidFill>
                <a:latin typeface="PingFang SC"/>
              </a:defRPr>
            </a:pPr>
            <a:r>
              <a:t>10x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389120" y="4544568"/>
            <a:ext cx="16459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89120" y="459943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21.00亿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35040" y="4544568"/>
            <a:ext cx="18288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35040" y="459943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10,248万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863840" y="4544568"/>
            <a:ext cx="11887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63840" y="459943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51.2x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52560" y="4544568"/>
            <a:ext cx="146304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052560" y="4599432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76%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5020056"/>
            <a:ext cx="16459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48640" y="507492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乐观 · Y6(无C轮)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194560" y="5020056"/>
            <a:ext cx="11887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194560" y="507492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1.60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383280" y="5020056"/>
            <a:ext cx="100584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383280" y="507492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00FF88"/>
                </a:solidFill>
                <a:latin typeface="PingFang SC"/>
              </a:defRPr>
            </a:pPr>
            <a:r>
              <a:t>11x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389120" y="5020056"/>
            <a:ext cx="16459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389120" y="507492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17.60亿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0" y="5020056"/>
            <a:ext cx="18288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035040" y="507492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10,102万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863840" y="5020056"/>
            <a:ext cx="11887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863840" y="507492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50.5x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052560" y="5020056"/>
            <a:ext cx="146304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052560" y="5074920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89%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48640" y="5257800"/>
            <a:ext cx="11064240" cy="1280160"/>
          </a:xfrm>
          <a:prstGeom prst="rect">
            <a:avLst/>
          </a:prstGeom>
          <a:solidFill>
            <a:srgbClr val="1218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22960" y="5349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A855F7"/>
                </a:solidFill>
                <a:latin typeface="PingFang SC"/>
              </a:defRPr>
            </a:pPr>
            <a:r>
              <a:t>基准方案（最可能）：Y7 IPO · ARR 1.18 亿 · 9x → 市值 10.62 亿 → 种子回报 5,183 万 → 25.9x MOIC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保守方案底线：Y8 以 7x 上市 → 仍有 16.7x MOIC → 远超 VC 10x 目标</a:t>
            </a:r>
          </a:p>
          <a:p>
            <a:pPr algn="l">
              <a:lnSpc>
                <a:spcPts val="1800"/>
              </a:lnSpc>
              <a:defRPr sz="1300" b="0">
                <a:solidFill>
                  <a:srgbClr val="00FF88"/>
                </a:solidFill>
                <a:latin typeface="PingFang SC"/>
              </a:defRPr>
            </a:pPr>
            <a:r>
              <a:t>乐观方案上限：Y7 以 10x 上市 → 51.2x MOIC → 200 万变 1 亿，基金回报级项目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并购 vs IPO：同一项目，两条回报曲线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投资人怎么选？取决于基金存续期、风险偏好、组合策略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075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2000" b="1">
                <a:solidFill>
                  <a:srgbClr val="0A0E17"/>
                </a:solidFill>
                <a:latin typeface="PingFang SC"/>
              </a:defRPr>
            </a:pPr>
            <a:r>
              <a:t>路径一：并购退出（3年）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00D4FF"/>
                </a:solidFill>
                <a:latin typeface="PingFang SC"/>
              </a:defRPr>
            </a:pPr>
            <a:r>
              <a:t>种子持股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9.55%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00D4FF"/>
                </a:solidFill>
                <a:latin typeface="PingFang SC"/>
              </a:defRPr>
            </a:pPr>
            <a:r>
              <a:t>退出估值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2.70 亿 (ARR 3,600万 × 7.5x)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00D4FF"/>
                </a:solidFill>
                <a:latin typeface="PingFang SC"/>
              </a:defRPr>
            </a:pPr>
            <a:r>
              <a:t>种子回报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2,579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00D4FF"/>
                </a:solidFill>
                <a:latin typeface="PingFang SC"/>
              </a:defRPr>
            </a:pPr>
            <a:r>
              <a:t>MOIC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291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12.9x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00D4FF"/>
                </a:solidFill>
                <a:latin typeface="PingFang SC"/>
              </a:defRPr>
            </a:pPr>
            <a:r>
              <a:t>IRR (3年)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7490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134%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00D4FF"/>
                </a:solidFill>
                <a:latin typeface="PingFang SC"/>
              </a:defRPr>
            </a:pPr>
            <a:r>
              <a:t>确定性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206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⭐⭐⭐⭐  较高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5303520" cy="5029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3075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路径二：IPO 退出（7年）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A855F7"/>
                </a:solidFill>
                <a:latin typeface="PingFang SC"/>
              </a:defRPr>
            </a:pPr>
            <a:r>
              <a:t>种子持股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4.88%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A855F7"/>
                </a:solidFill>
                <a:latin typeface="PingFang SC"/>
              </a:defRPr>
            </a:pPr>
            <a:r>
              <a:t>退出估值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10.62 亿 (ARR 1.18亿 × 9x)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A855F7"/>
                </a:solidFill>
                <a:latin typeface="PingFang SC"/>
              </a:defRPr>
            </a:pPr>
            <a:r>
              <a:t>种子回报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5,183 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A855F7"/>
                </a:solidFill>
                <a:latin typeface="PingFang SC"/>
              </a:defRPr>
            </a:pPr>
            <a:r>
              <a:t>MOIC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291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25.9x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A855F7"/>
                </a:solidFill>
                <a:latin typeface="PingFang SC"/>
              </a:defRPr>
            </a:pPr>
            <a:r>
              <a:t>IRR (7年)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7490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59%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A855F7"/>
                </a:solidFill>
                <a:latin typeface="PingFang SC"/>
              </a:defRPr>
            </a:pPr>
            <a:r>
              <a:t>确定性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206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⭐⭐⭐  中低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572000"/>
            <a:ext cx="11247120" cy="127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709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800" b="1">
                <a:solidFill>
                  <a:srgbClr val="00D4FF"/>
                </a:solidFill>
                <a:latin typeface="PingFang SC"/>
              </a:defRPr>
            </a:pPr>
            <a:r>
              <a:t>并购的优势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✅ IRR 134% — 钱回来得快</a:t>
            </a:r>
          </a:p>
          <a:p>
            <a:pPr algn="l">
              <a:lnSpc>
                <a:spcPts val="18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✅ 确定性高 — 有明确买家</a:t>
            </a:r>
          </a:p>
          <a:p>
            <a:pPr algn="l">
              <a:lnSpc>
                <a:spcPts val="18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✅ 锁定期无 — 一次性变现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⚠️ 倍数受限 — 把未来增长卖给了收购方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709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800" b="1">
                <a:solidFill>
                  <a:srgbClr val="A855F7"/>
                </a:solidFill>
                <a:latin typeface="PingFang SC"/>
              </a:defRPr>
            </a:pPr>
            <a:r>
              <a:t>IPO 的优势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✅ MOIC 25.9x — 绝对回报更高</a:t>
            </a:r>
          </a:p>
          <a:p>
            <a:pPr algn="l">
              <a:lnSpc>
                <a:spcPts val="18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✅ 7 年复合增长全归现有股东</a:t>
            </a:r>
          </a:p>
          <a:p>
            <a:pPr algn="l">
              <a:lnSpc>
                <a:spcPts val="18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✅ 公开市场流动性 + 品牌溢价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⚠️ IRR 低 — 时间稀释回报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⚠️ 确定性低 — 需满足上市条件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投资人决策框架：你的基金适合哪条路？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没有绝对好坏 — 只有是否匹配基金策略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029200" cy="457200"/>
          </a:xfrm>
          <a:prstGeom prst="rect">
            <a:avLst/>
          </a:prstGeom>
          <a:solidFill>
            <a:srgbClr val="12182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2646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存续期还剩 3-4 年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371600"/>
            <a:ext cx="118872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4264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→ 并购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4264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必须在基金到期前退出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01952"/>
            <a:ext cx="5029200" cy="457200"/>
          </a:xfrm>
          <a:prstGeom prst="rect">
            <a:avLst/>
          </a:prstGeom>
          <a:solidFill>
            <a:srgbClr val="121824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568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存续期还剩 7-8 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901952"/>
            <a:ext cx="118872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95681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→ 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5681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多等 4 年换 2x 额外回报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32304"/>
            <a:ext cx="5029200" cy="457200"/>
          </a:xfrm>
          <a:prstGeom prst="rect">
            <a:avLst/>
          </a:prstGeom>
          <a:solidFill>
            <a:srgbClr val="12182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871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追求高 IRR (&gt;100%)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2432304"/>
            <a:ext cx="118872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4871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→ 并购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487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3 年 134% IRR 是顶级表现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62656"/>
            <a:ext cx="5029200" cy="457200"/>
          </a:xfrm>
          <a:prstGeom prst="rect">
            <a:avLst/>
          </a:prstGeom>
          <a:solidFill>
            <a:srgbClr val="121824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175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追求高 MOIC (&gt;20x)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2962656"/>
            <a:ext cx="118872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3017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→ IPO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0175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25.9x 是基金回报级项目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93008"/>
            <a:ext cx="5029200" cy="457200"/>
          </a:xfrm>
          <a:prstGeom prst="rect">
            <a:avLst/>
          </a:prstGeom>
          <a:solidFill>
            <a:srgbClr val="12182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478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风险厌恶型 LP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3493008"/>
            <a:ext cx="118872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354787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→ 并购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5478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确定性远高于 IPO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23360"/>
            <a:ext cx="5029200" cy="457200"/>
          </a:xfrm>
          <a:prstGeom prst="rect">
            <a:avLst/>
          </a:prstGeom>
          <a:solidFill>
            <a:srgbClr val="121824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0782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愿意承担公开市场风险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4023360"/>
            <a:ext cx="118872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40782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→ IPO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07822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流动性 + 上行空间更大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553712"/>
            <a:ext cx="5029200" cy="457200"/>
          </a:xfrm>
          <a:prstGeom prst="rect">
            <a:avLst/>
          </a:prstGeom>
          <a:solidFill>
            <a:srgbClr val="12182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6085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需要 DPI 证明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4553712"/>
            <a:ext cx="118872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460857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→ 并购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6085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3 年现金回笼，LP 看得见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084064"/>
            <a:ext cx="5029200" cy="457200"/>
          </a:xfrm>
          <a:prstGeom prst="rect">
            <a:avLst/>
          </a:prstGeom>
          <a:solidFill>
            <a:srgbClr val="121824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1389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追求 TVPI 最大化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5084064"/>
            <a:ext cx="118872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0" y="513892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→ IPO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51389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长线持有享受复利效应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solidFill>
            <a:srgbClr val="1218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00FF88"/>
                </a:solidFill>
                <a:latin typeface="PingFang SC"/>
              </a:defRPr>
            </a:pPr>
            <a:r>
              <a:t>两条路径不是互斥的。最优策略：做到 Y3-Y4 时接并购邀约 → 出价合理就卖 → 没有就融 B 轮继续做 IPO。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种子投资人无论走哪条路，基准回报都在 12x 以上 — 这在种子轮中属于前四分之一分位。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综合期望回报：加权后的种子轮预期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并购(60-70%概率) + IPO(15-25%) + 其他(10-15%) → 加权 MOIC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三条退出路径的加权期望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8366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退出路径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1371600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88366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概率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828800"/>
            <a:ext cx="1371600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88366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MOIC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828800"/>
            <a:ext cx="2286000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88366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种子回报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828800"/>
            <a:ext cx="2286000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88366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加权贡献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04288"/>
            <a:ext cx="22860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35915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路径一 · 并购（3年）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304288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235915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60-70%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304288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235915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12.9x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2304288"/>
            <a:ext cx="22860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0" y="235915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2,579万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304288"/>
            <a:ext cx="22860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235915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~1,680万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779776"/>
            <a:ext cx="22860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283464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路径二 · IPO（7年）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2779776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283464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15-25%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2779776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283464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25.9x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2779776"/>
            <a:ext cx="22860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23560" y="283464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5,183万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779776"/>
            <a:ext cx="22860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283464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~1,037万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255264"/>
            <a:ext cx="22860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3101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路径三 · 其他/失败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255264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33101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10-15%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255264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60" y="33101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0-3x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3255264"/>
            <a:ext cx="22860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23560" y="33101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0-600万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3255264"/>
            <a:ext cx="22860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33101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~60万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730752"/>
            <a:ext cx="22860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785616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48" name="Rectangle 47"/>
          <p:cNvSpPr/>
          <p:nvPr/>
        </p:nvSpPr>
        <p:spPr>
          <a:xfrm>
            <a:off x="2834640" y="3730752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80360" y="378561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50" name="Rectangle 49"/>
          <p:cNvSpPr/>
          <p:nvPr/>
        </p:nvSpPr>
        <p:spPr>
          <a:xfrm>
            <a:off x="4206240" y="3730752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51960" y="378561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</a:p>
        </p:txBody>
      </p:sp>
      <p:sp>
        <p:nvSpPr>
          <p:cNvPr id="52" name="Rectangle 51"/>
          <p:cNvSpPr/>
          <p:nvPr/>
        </p:nvSpPr>
        <p:spPr>
          <a:xfrm>
            <a:off x="5577840" y="3730752"/>
            <a:ext cx="22860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23560" y="3785616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54" name="Rectangle 53"/>
          <p:cNvSpPr/>
          <p:nvPr/>
        </p:nvSpPr>
        <p:spPr>
          <a:xfrm>
            <a:off x="7863840" y="3730752"/>
            <a:ext cx="22860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09560" y="3785616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200" b="1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56" name="Rectangle 55"/>
          <p:cNvSpPr/>
          <p:nvPr/>
        </p:nvSpPr>
        <p:spPr>
          <a:xfrm>
            <a:off x="548640" y="4206240"/>
            <a:ext cx="228600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2611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0A0E17"/>
                </a:solidFill>
                <a:latin typeface="PingFang SC"/>
              </a:defRPr>
            </a:pPr>
            <a:r>
              <a:t>加权合计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640" y="4206240"/>
            <a:ext cx="137160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4640" y="42611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0A0E17"/>
                </a:solidFill>
                <a:latin typeface="PingFang SC"/>
              </a:defRPr>
            </a:pPr>
            <a:r>
              <a:t>100%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06240" y="4206240"/>
            <a:ext cx="137160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06240" y="42611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0A0E17"/>
                </a:solidFill>
                <a:latin typeface="PingFang SC"/>
              </a:defRPr>
            </a:pPr>
            <a:r>
              <a:t>~14-17x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77840" y="4206240"/>
            <a:ext cx="228600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77840" y="42611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0A0E17"/>
                </a:solidFill>
                <a:latin typeface="PingFang SC"/>
              </a:defRPr>
            </a:pPr>
            <a:r>
              <a:t>~2,800万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63840" y="4206240"/>
            <a:ext cx="228600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63840" y="42611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0A0E17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480560"/>
            <a:ext cx="5303520" cy="2011680"/>
          </a:xfrm>
          <a:prstGeom prst="rect">
            <a:avLst/>
          </a:prstGeom>
          <a:solidFill>
            <a:srgbClr val="12182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" y="4572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00FF88"/>
                </a:solidFill>
                <a:latin typeface="PingFang SC"/>
              </a:defRPr>
            </a:pPr>
            <a:r>
              <a:t>这在 VC 中是什么水平？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49377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种子轮 MOIC 分位数：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· 前 10%：&gt;20x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· 前 25%：&gt;10x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· 中位数：~3x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· 后 25%：&lt;1x（亏损）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500" b="1">
                <a:solidFill>
                  <a:srgbClr val="00FF88"/>
                </a:solidFill>
                <a:latin typeface="PingFang SC"/>
              </a:defRPr>
            </a:pPr>
            <a:r>
              <a:t>算力通加权 MOIC ~14-17x</a:t>
            </a:r>
          </a:p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属于前 15-20% 分位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4480560"/>
            <a:ext cx="5394960" cy="2011680"/>
          </a:xfrm>
          <a:prstGeom prst="rect">
            <a:avLst/>
          </a:prstGeom>
          <a:solidFill>
            <a:srgbClr val="1218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92240" y="4572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A855F7"/>
                </a:solidFill>
                <a:latin typeface="PingFang SC"/>
              </a:defRPr>
            </a:pPr>
            <a:r>
              <a:t>为什么算力通的期望回报偏高？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49377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三个结构性优势：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1. 下行保护极强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   ARR 280万即回本，本金损失概率&lt;5%</a:t>
            </a:r>
          </a:p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2. 退出路径清晰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   有明确收购方 + 公开可比交易</a:t>
            </a:r>
          </a:p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3. 资本效率高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   LTV/CAC=16:1，不需烧钱换增长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4200" b="1">
                <a:solidFill>
                  <a:srgbClr val="FFFFFF"/>
                </a:solidFill>
                <a:latin typeface="PingFang SC"/>
              </a:defRPr>
            </a:pPr>
            <a:r>
              <a:t>算力通 · IPO 退出路径分析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651760"/>
            <a:ext cx="393192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800" b="0">
                <a:solidFill>
                  <a:srgbClr val="8893A0"/>
                </a:solidFill>
                <a:latin typeface="PingFang SC"/>
              </a:defRPr>
            </a:pPr>
            <a:r>
              <a:t>并购 12.9x MOIC / 134% IRR  ←→  IPO 25.9x MOIC / 59% IRR</a:t>
            </a:r>
          </a:p>
          <a:p>
            <a:pPr algn="ctr">
              <a:lnSpc>
                <a:spcPts val="18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</a:p>
          <a:p>
            <a:pPr algn="ctr">
              <a:lnSpc>
                <a:spcPts val="1800"/>
              </a:lnSpc>
              <a:defRPr sz="1400" b="0">
                <a:solidFill>
                  <a:srgbClr val="555E6B"/>
                </a:solidFill>
                <a:latin typeface="PingFang SC"/>
              </a:defRPr>
            </a:pPr>
            <a:r>
              <a:t>本报告基于商业计划书 V3 数据与公开市场可比分析</a:t>
            </a:r>
          </a:p>
          <a:p>
            <a:pPr algn="ctr">
              <a:lnSpc>
                <a:spcPts val="1800"/>
              </a:lnSpc>
              <a:defRPr sz="1400" b="0">
                <a:solidFill>
                  <a:srgbClr val="555E6B"/>
                </a:solidFill>
                <a:latin typeface="PingFang SC"/>
              </a:defRPr>
            </a:pPr>
            <a:r>
              <a:t>不构成投资建议 · 仅供种子轮投资人审阅</a:t>
            </a:r>
          </a:p>
          <a:p>
            <a:pPr algn="ctr">
              <a:lnSpc>
                <a:spcPts val="18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</a:p>
          <a:p>
            <a:pPr algn="ctr">
              <a:lnSpc>
                <a:spcPts val="1800"/>
              </a:lnSpc>
              <a:defRPr sz="1800" b="1">
                <a:solidFill>
                  <a:srgbClr val="A855F7"/>
                </a:solidFill>
                <a:latin typeface="PingFang SC"/>
              </a:defRPr>
            </a:pPr>
            <a:r>
              <a:t>算力通 · 让算力像自来水一样，扭开即用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029200"/>
            <a:ext cx="210312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创始人：Eric  |  种子轮 · 200 万 · 10%~15%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