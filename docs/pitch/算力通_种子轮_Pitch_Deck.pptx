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7200"/>
              </a:lnSpc>
              <a:defRPr sz="6000" b="1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算 力 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9418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600"/>
              </a:lnSpc>
              <a:defRPr sz="2200" b="0">
                <a:solidFill>
                  <a:srgbClr val="00D4FF"/>
                </a:solidFill>
                <a:latin typeface="PingFang SC"/>
              </a:defRPr>
            </a:pPr>
            <a:r>
              <a:rPr a:altLang="zh-CN"/>
              <a:t>SuanLiTong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3246120"/>
            <a:ext cx="27432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9418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00"/>
              </a:lnSpc>
              <a:defRPr sz="1800" b="0">
                <a:solidFill>
                  <a:srgbClr val="8893A0"/>
                </a:solidFill>
                <a:latin typeface="PingFang SC"/>
              </a:defRPr>
            </a:pPr>
            <a:r>
              <a:rPr a:altLang="zh-CN"/>
              <a:t>让算力像自来水一样，扭开即用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06240"/>
            <a:ext cx="9418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900"/>
              </a:lnSpc>
              <a:defRPr sz="1600" b="0">
                <a:solidFill>
                  <a:srgbClr val="8893A0"/>
                </a:solidFill>
                <a:latin typeface="PingFang SC"/>
              </a:defRPr>
            </a:pPr>
            <a:r>
              <a:rPr a:altLang="zh-CN"/>
              <a:t>GPU 算力多云聚合平台 · 种子轮融资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03520"/>
            <a:ext cx="9418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00"/>
              </a:lnSpc>
              <a:defRPr sz="1200" b="0">
                <a:solidFill>
                  <a:srgbClr val="555E6B"/>
                </a:solidFill>
                <a:latin typeface="PingFang SC"/>
              </a:defRPr>
            </a:pPr>
            <a:r>
              <a:rPr a:altLang="zh-CN"/>
              <a:t>创始人：Eric  |  算力通  |  2026.07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720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defRPr sz="1000" b="0">
                <a:solidFill>
                  <a:srgbClr val="555E6B"/>
                </a:solidFill>
                <a:latin typeface="PingFang SC"/>
              </a:defRPr>
            </a:pPr>
            <a:r>
              <a:rPr a:altLang="zh-CN"/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300"/>
              </a:lnSpc>
              <a:defRPr sz="2800" b="1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一个正在爆炸的供需缺口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09728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300" b="0">
                <a:solidFill>
                  <a:srgbClr val="8893A0"/>
                </a:solidFill>
                <a:latin typeface="PingFang SC"/>
              </a:defRPr>
            </a:pPr>
            <a:r>
              <a:rPr a:altLang="zh-CN"/>
              <a:t>2026 Q1 中国 AI 算力市场 · 数据来源：工信部、格隆汇、阿里云官方公告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5000"/>
              </a:lnSpc>
              <a:defRPr sz="4200" b="1">
                <a:solidFill>
                  <a:srgbClr val="00FF88"/>
                </a:solidFill>
                <a:latin typeface="PingFang SC"/>
              </a:defRPr>
            </a:pPr>
            <a:r>
              <a:rPr a:altLang="zh-CN"/>
              <a:t>+417%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317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400" b="0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需求增速（同比）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645920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5000"/>
              </a:lnSpc>
              <a:defRPr sz="4200" b="1">
                <a:solidFill>
                  <a:srgbClr val="8893A0"/>
                </a:solidFill>
                <a:latin typeface="PingFang SC"/>
              </a:defRPr>
            </a:pPr>
            <a:r>
              <a:rPr a:altLang="zh-CN"/>
              <a:t>VS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3317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400" b="0">
                <a:solidFill>
                  <a:srgbClr val="FFFFFF"/>
                </a:solidFill>
                <a:latin typeface="PingFang SC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5669280" y="1645920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5000"/>
              </a:lnSpc>
              <a:defRPr sz="4200" b="1">
                <a:solidFill>
                  <a:srgbClr val="00FF88"/>
                </a:solidFill>
                <a:latin typeface="PingFang SC"/>
              </a:defRPr>
            </a:pPr>
            <a:r>
              <a:rPr a:altLang="zh-CN"/>
              <a:t>+128%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3317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400" b="0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供给增速（同比）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2834640"/>
            <a:ext cx="9966960" cy="457200"/>
          </a:xfrm>
          <a:prstGeom prst="rect">
            <a:avLst/>
          </a:prstGeom>
          <a:solidFill>
            <a:srgbClr val="121824"/>
          </a:solidFill>
          <a:ln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" y="2880360"/>
            <a:ext cx="8046720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" y="3383280"/>
            <a:ext cx="2651760" cy="3657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52044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defRPr sz="1100" b="0">
                <a:solidFill>
                  <a:srgbClr val="FF6B35"/>
                </a:solidFill>
                <a:latin typeface="PingFang SC"/>
              </a:defRPr>
            </a:pPr>
            <a:r>
              <a:rPr a:altLang="zh-CN"/>
              <a:t>需求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70332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defRPr sz="1100" b="0">
                <a:solidFill>
                  <a:srgbClr val="00D4FF"/>
                </a:solidFill>
                <a:latin typeface="PingFang SC"/>
              </a:defRPr>
            </a:pPr>
            <a:r>
              <a:rPr a:altLang="zh-CN"/>
              <a:t>供给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4114800"/>
            <a:ext cx="3200400" cy="1097280"/>
          </a:xfrm>
          <a:prstGeom prst="rect">
            <a:avLst/>
          </a:prstGeom>
          <a:solidFill>
            <a:srgbClr val="121824"/>
          </a:solidFill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425196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defRPr sz="1500" b="1">
                <a:solidFill>
                  <a:srgbClr val="00D4FF"/>
                </a:solidFill>
                <a:latin typeface="PingFang SC"/>
              </a:defRPr>
            </a:pPr>
            <a:r>
              <a:rPr a:altLang="zh-CN"/>
              <a:t>H100 排期至 2028 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572000"/>
            <a:ext cx="2834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高端 GPU 供不应求，全球排队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4114800"/>
            <a:ext cx="3200400" cy="1097280"/>
          </a:xfrm>
          <a:prstGeom prst="rect">
            <a:avLst/>
          </a:prstGeom>
          <a:solidFill>
            <a:srgbClr val="121824"/>
          </a:solidFill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425196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defRPr sz="1500" b="1">
                <a:solidFill>
                  <a:srgbClr val="00D4FF"/>
                </a:solidFill>
                <a:latin typeface="PingFang SC"/>
              </a:defRPr>
            </a:pPr>
            <a:r>
              <a:rPr a:altLang="zh-CN"/>
              <a:t>GPU 租赁率 &gt; 90%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572000"/>
            <a:ext cx="2834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上架即秒光，行业常态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19" y="4114800"/>
            <a:ext cx="3200400" cy="1097280"/>
          </a:xfrm>
          <a:prstGeom prst="rect">
            <a:avLst/>
          </a:prstGeom>
          <a:solidFill>
            <a:srgbClr val="121824"/>
          </a:solidFill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9" y="425196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defRPr sz="1500" b="1">
                <a:solidFill>
                  <a:srgbClr val="00D4FF"/>
                </a:solidFill>
                <a:latin typeface="PingFang SC"/>
              </a:defRPr>
            </a:pPr>
            <a:r>
              <a:rPr a:altLang="zh-CN"/>
              <a:t>阿里云 GPU 涨价 +20%~34%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9" y="4572000"/>
            <a:ext cx="2834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2026 年 3 月官方调价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486400"/>
            <a:ext cx="9966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900"/>
              </a:lnSpc>
              <a:defRPr sz="1600" b="1">
                <a:solidFill>
                  <a:srgbClr val="00D4FF"/>
                </a:solidFill>
                <a:latin typeface="PingFang SC"/>
              </a:defRPr>
            </a:pPr>
            <a:r>
              <a:rPr a:altLang="zh-CN"/>
              <a:t>每 5 份算力需求，市场只接得住 2 份。缺口仍在扩大。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defRPr sz="1000" b="0">
                <a:solidFill>
                  <a:srgbClr val="555E6B"/>
                </a:solidFill>
                <a:latin typeface="PingFang SC"/>
              </a:defRPr>
            </a:pPr>
            <a:r>
              <a:rPr a:altLang="zh-CN"/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300"/>
              </a:lnSpc>
              <a:defRPr sz="2800" b="1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940 万 AI 开发者的真实困境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09728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300" b="0">
                <a:solidFill>
                  <a:srgbClr val="8893A0"/>
                </a:solidFill>
                <a:latin typeface="PingFang SC"/>
              </a:defRPr>
            </a:pPr>
            <a:r>
              <a:rPr a:altLang="zh-CN"/>
              <a:t>数据来源：知乎 × 魔搭《2025 AI 开发者生态白皮书》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5000"/>
              </a:lnSpc>
              <a:defRPr sz="4200" b="1">
                <a:solidFill>
                  <a:srgbClr val="00FF88"/>
                </a:solidFill>
                <a:latin typeface="PingFang SC"/>
              </a:defRPr>
            </a:pPr>
            <a:r>
              <a:rPr a:altLang="zh-CN"/>
              <a:t>940 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400" b="0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中国 AI 开发者总量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463040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5000"/>
              </a:lnSpc>
              <a:defRPr sz="4200" b="1">
                <a:solidFill>
                  <a:srgbClr val="00FF88"/>
                </a:solidFill>
                <a:latin typeface="PingFang SC"/>
              </a:defRPr>
            </a:pPr>
            <a:r>
              <a:rPr a:altLang="zh-CN"/>
              <a:t>129 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1488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400" b="0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独立开发者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1463040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5000"/>
              </a:lnSpc>
              <a:defRPr sz="4200" b="1">
                <a:solidFill>
                  <a:srgbClr val="00FF88"/>
                </a:solidFill>
                <a:latin typeface="PingFang SC"/>
              </a:defRPr>
            </a:pPr>
            <a:r>
              <a:rPr a:altLang="zh-CN"/>
              <a:t>195 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1488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400" b="0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50人以下小团队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0" y="2651760"/>
            <a:ext cx="548640" cy="5486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670048"/>
            <a:ext cx="548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400"/>
              </a:lnSpc>
              <a:defRPr sz="2000" b="1">
                <a:solidFill>
                  <a:srgbClr val="0A0E17"/>
                </a:solidFill>
                <a:latin typeface="PingFang SC"/>
              </a:defRPr>
            </a:pPr>
            <a:r>
              <a:rPr a:altLang="zh-CN"/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37560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900"/>
              </a:lnSpc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买不起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703320"/>
            <a:ext cx="19202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rPr a:altLang="zh-CN"/>
              <a:t>H100 一张 20 万</a:t>
            </a:r>
            <a:br/>
            <a:r>
              <a:rPr a:altLang="zh-CN"/>
              <a:t>一台 8 卡 200 万起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2651760"/>
            <a:ext cx="548640" cy="5486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2670048"/>
            <a:ext cx="548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400"/>
              </a:lnSpc>
              <a:defRPr sz="2000" b="1">
                <a:solidFill>
                  <a:srgbClr val="0A0E17"/>
                </a:solidFill>
                <a:latin typeface="PingFang SC"/>
              </a:defRPr>
            </a:pPr>
            <a:r>
              <a:rPr a:altLang="zh-CN"/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337560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900"/>
              </a:lnSpc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配不好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703320"/>
            <a:ext cx="19202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rPr a:altLang="zh-CN"/>
              <a:t>阿里云后台配环境</a:t>
            </a:r>
            <a:br/>
            <a:r>
              <a:rPr a:altLang="zh-CN"/>
              <a:t>新手需要 2 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720" y="2651760"/>
            <a:ext cx="548640" cy="5486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0" y="2670048"/>
            <a:ext cx="548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400"/>
              </a:lnSpc>
              <a:defRPr sz="2000" b="1">
                <a:solidFill>
                  <a:srgbClr val="0A0E17"/>
                </a:solidFill>
                <a:latin typeface="PingFang SC"/>
              </a:defRPr>
            </a:pPr>
            <a:r>
              <a:rPr a:altLang="zh-CN"/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3337560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900"/>
              </a:lnSpc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比不到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3703320"/>
            <a:ext cx="19202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rPr a:altLang="zh-CN"/>
              <a:t>同一张卡不同云厂</a:t>
            </a:r>
            <a:br/>
            <a:r>
              <a:rPr a:altLang="zh-CN"/>
              <a:t>差价 20% ~ 40%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2651760"/>
            <a:ext cx="548640" cy="5486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0" y="2670048"/>
            <a:ext cx="548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400"/>
              </a:lnSpc>
              <a:defRPr sz="2000" b="1">
                <a:solidFill>
                  <a:srgbClr val="0A0E17"/>
                </a:solidFill>
                <a:latin typeface="PingFang SC"/>
              </a:defRPr>
            </a:pPr>
            <a:r>
              <a:rPr a:altLang="zh-CN"/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0" y="3337560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900"/>
              </a:lnSpc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锁太久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3703320"/>
            <a:ext cx="19202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rPr a:altLang="zh-CN"/>
              <a:t>包月起售</a:t>
            </a:r>
            <a:br/>
            <a:r>
              <a:rPr a:altLang="zh-CN"/>
              <a:t>只用 50 小时也付整月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332720" y="2651760"/>
            <a:ext cx="548640" cy="5486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0" y="2670048"/>
            <a:ext cx="548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400"/>
              </a:lnSpc>
              <a:defRPr sz="2000" b="1">
                <a:solidFill>
                  <a:srgbClr val="0A0E17"/>
                </a:solidFill>
                <a:latin typeface="PingFang SC"/>
              </a:defRPr>
            </a:pPr>
            <a:r>
              <a:rPr a:altLang="zh-CN"/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3337560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900"/>
              </a:lnSpc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重装烦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3703320"/>
            <a:ext cx="19202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rPr a:altLang="zh-CN"/>
              <a:t>每次新建实例</a:t>
            </a:r>
            <a:br/>
            <a:r>
              <a:rPr a:altLang="zh-CN"/>
              <a:t>重装 CUDA / PyTorch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120640"/>
            <a:ext cx="9966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900"/>
              </a:lnSpc>
              <a:defRPr sz="1600" b="1">
                <a:solidFill>
                  <a:srgbClr val="00D4FF"/>
                </a:solidFill>
                <a:latin typeface="PingFang SC"/>
              </a:defRPr>
            </a:pPr>
            <a:r>
              <a:rPr a:altLang="zh-CN"/>
              <a:t>他们要的不是更便宜的 GPU，是“打开浏览器就能写代码”。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defRPr sz="1000" b="0">
                <a:solidFill>
                  <a:srgbClr val="555E6B"/>
                </a:solidFill>
                <a:latin typeface="PingFang SC"/>
              </a:defRPr>
            </a:pPr>
            <a:r>
              <a:rPr a:altLang="zh-CN"/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300"/>
              </a:lnSpc>
              <a:defRPr sz="2800" b="1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算力通：多云比价，一键即用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09728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300" b="0">
                <a:solidFill>
                  <a:srgbClr val="8893A0"/>
                </a:solidFill>
                <a:latin typeface="PingFang SC"/>
              </a:defRPr>
            </a:pPr>
            <a:r>
              <a:rPr a:altLang="zh-CN"/>
              <a:t>第一阶段：0 张自有 GPU，100% 多云代理商模式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474720" cy="1325880"/>
          </a:xfrm>
          <a:prstGeom prst="rect">
            <a:avLst/>
          </a:prstGeom>
          <a:solidFill>
            <a:srgbClr val="121824"/>
          </a:solidFill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defRPr sz="1500" b="1">
                <a:solidFill>
                  <a:srgbClr val="00D4FF"/>
                </a:solidFill>
                <a:latin typeface="PingFang SC"/>
              </a:defRPr>
            </a:pPr>
            <a:r>
              <a:rPr a:altLang="zh-CN"/>
              <a:t>🔍 多云比价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1089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rPr a:altLang="zh-CN"/>
              <a:t>阿里云 · 华为云 · 腾讯云</a:t>
            </a:r>
            <a:br/>
            <a:r>
              <a:rPr a:altLang="zh-CN"/>
              <a:t>实时比价，自动推荐最优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3474720" cy="1325880"/>
          </a:xfrm>
          <a:prstGeom prst="rect">
            <a:avLst/>
          </a:prstGeom>
          <a:solidFill>
            <a:srgbClr val="121824"/>
          </a:solidFill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60020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defRPr sz="1500" b="1">
                <a:solidFill>
                  <a:srgbClr val="00D4FF"/>
                </a:solidFill>
                <a:latin typeface="PingFang SC"/>
              </a:defRPr>
            </a:pPr>
            <a:r>
              <a:rPr a:altLang="zh-CN"/>
              <a:t>⚡ 一键部署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965960"/>
            <a:ext cx="31089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rPr a:altLang="zh-CN"/>
              <a:t>选 PyTorch → 3 分钟就绪</a:t>
            </a:r>
            <a:br/>
            <a:r>
              <a:rPr a:altLang="zh-CN"/>
              <a:t>不用配 VPC / CUDA / NAS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3474720" cy="1325880"/>
          </a:xfrm>
          <a:prstGeom prst="rect">
            <a:avLst/>
          </a:prstGeom>
          <a:solidFill>
            <a:srgbClr val="121824"/>
          </a:solidFill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60020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defRPr sz="1500" b="1">
                <a:solidFill>
                  <a:srgbClr val="00D4FF"/>
                </a:solidFill>
                <a:latin typeface="PingFang SC"/>
              </a:defRPr>
            </a:pPr>
            <a:r>
              <a:rPr a:altLang="zh-CN"/>
              <a:t>⏱ 按秒计费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965960"/>
            <a:ext cx="31089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rPr a:altLang="zh-CN"/>
              <a:t>用 37 分钟付 37 分钟</a:t>
            </a:r>
            <a:br/>
            <a:r>
              <a:rPr a:altLang="zh-CN"/>
              <a:t>不花一分冤枉钱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017520"/>
            <a:ext cx="3474720" cy="1325880"/>
          </a:xfrm>
          <a:prstGeom prst="rect">
            <a:avLst/>
          </a:prstGeom>
          <a:solidFill>
            <a:srgbClr val="121824"/>
          </a:solidFill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15468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defRPr sz="1500" b="1">
                <a:solidFill>
                  <a:srgbClr val="00D4FF"/>
                </a:solidFill>
                <a:latin typeface="PingFang SC"/>
              </a:defRPr>
            </a:pPr>
            <a:r>
              <a:rPr a:altLang="zh-CN"/>
              <a:t>📦 50+ 镜像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520440"/>
            <a:ext cx="31089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rPr a:altLang="zh-CN"/>
              <a:t>预置主流 AI 框架</a:t>
            </a:r>
            <a:br/>
            <a:r>
              <a:rPr a:altLang="zh-CN"/>
              <a:t>开箱即用，零配置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3017520"/>
            <a:ext cx="3474720" cy="1325880"/>
          </a:xfrm>
          <a:prstGeom prst="rect">
            <a:avLst/>
          </a:prstGeom>
          <a:solidFill>
            <a:srgbClr val="121824"/>
          </a:solidFill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315468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defRPr sz="1500" b="1">
                <a:solidFill>
                  <a:srgbClr val="00D4FF"/>
                </a:solidFill>
                <a:latin typeface="PingFang SC"/>
              </a:defRPr>
            </a:pPr>
            <a:r>
              <a:rPr a:altLang="zh-CN"/>
              <a:t>💸 Spot 竞价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520440"/>
            <a:ext cx="31089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rPr a:altLang="zh-CN"/>
              <a:t>凌晨闲置 GPU 最低 3 折</a:t>
            </a:r>
            <a:br/>
            <a:r>
              <a:rPr a:altLang="zh-CN"/>
              <a:t>平台自动匹配低价资源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3017520"/>
            <a:ext cx="3474720" cy="1325880"/>
          </a:xfrm>
          <a:prstGeom prst="rect">
            <a:avLst/>
          </a:prstGeom>
          <a:solidFill>
            <a:srgbClr val="121824"/>
          </a:solidFill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315468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defRPr sz="1500" b="1">
                <a:solidFill>
                  <a:srgbClr val="00D4FF"/>
                </a:solidFill>
                <a:latin typeface="PingFang SC"/>
              </a:defRPr>
            </a:pPr>
            <a:r>
              <a:rPr a:altLang="zh-CN"/>
              <a:t>📋 算力券代申领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520440"/>
            <a:ext cx="31089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rPr a:altLang="zh-CN"/>
              <a:t>政府补贴帮你搞定</a:t>
            </a:r>
            <a:br/>
            <a:r>
              <a:rPr a:altLang="zh-CN"/>
              <a:t>贵州补贴 30%，内蒙年 5000 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434840"/>
            <a:ext cx="9966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00"/>
              </a:lnSpc>
              <a:defRPr sz="1800" b="1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你选框架，我们搞定 GPU。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defRPr sz="1000" b="0">
                <a:solidFill>
                  <a:srgbClr val="555E6B"/>
                </a:solidFill>
                <a:latin typeface="PingFang SC"/>
              </a:defRPr>
            </a:pPr>
            <a:r>
              <a:rPr a:altLang="zh-CN"/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300"/>
              </a:lnSpc>
              <a:defRPr sz="2800" b="1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为什么是现在？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09728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300" b="0">
                <a:solidFill>
                  <a:srgbClr val="8893A0"/>
                </a:solidFill>
                <a:latin typeface="PingFang SC"/>
              </a:defRPr>
            </a:pPr>
            <a:r>
              <a:rPr a:altLang="zh-CN"/>
              <a:t>四个不可复制的时机窗口 · 窗口预计到 2028 年国产 GPU 量产开始收窄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265176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2651760" cy="2286000"/>
          </a:xfrm>
          <a:prstGeom prst="rect">
            <a:avLst/>
          </a:prstGeom>
          <a:solidFill>
            <a:srgbClr val="121824"/>
          </a:solidFill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00"/>
              </a:lnSpc>
              <a:defRPr sz="1600" b="1">
                <a:solidFill>
                  <a:srgbClr val="FF6B35"/>
                </a:solidFill>
                <a:latin typeface="PingFang SC"/>
              </a:defRPr>
            </a:pPr>
            <a:r>
              <a:rPr a:altLang="zh-CN"/>
              <a:t>供需缺口历史最大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2286000" cy="1691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200" b="0">
                <a:solidFill>
                  <a:srgbClr val="FFFFFF"/>
                </a:solidFill>
                <a:latin typeface="PingFang SC"/>
              </a:defRPr>
            </a:pPr>
            <a:r>
              <a:t>需求 +417% vs 供给 +128%</a:t>
            </a:r>
            <a:br/>
            <a:r>
              <a:t>2028 年国产 GPU 量产前不会收窄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463040"/>
            <a:ext cx="2651760" cy="508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600200"/>
            <a:ext cx="2651760" cy="2286000"/>
          </a:xfrm>
          <a:prstGeom prst="rect">
            <a:avLst/>
          </a:prstGeom>
          <a:solidFill>
            <a:srgbClr val="121824"/>
          </a:solidFill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73736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00"/>
              </a:lnSpc>
              <a:defRPr sz="1600" b="1">
                <a:solidFill>
                  <a:srgbClr val="00FF88"/>
                </a:solidFill>
                <a:latin typeface="PingFang SC"/>
              </a:defRPr>
            </a:pPr>
            <a:r>
              <a:rPr a:altLang="zh-CN"/>
              <a:t>政策历史级加码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057400"/>
            <a:ext cx="2286000" cy="1691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200" b="0">
                <a:solidFill>
                  <a:srgbClr val="FFFFFF"/>
                </a:solidFill>
                <a:latin typeface="PingFang SC"/>
              </a:defRPr>
            </a:pPr>
            <a:r>
              <a:t>“十五五”首次将算力网与</a:t>
            </a:r>
            <a:br/>
            <a:r>
              <a:t>水网、电网并列为国家基础设施</a:t>
            </a:r>
            <a:br/>
            <a:r>
              <a:t>地方算力券密集推出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463040"/>
            <a:ext cx="265176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600200"/>
            <a:ext cx="2651760" cy="2286000"/>
          </a:xfrm>
          <a:prstGeom prst="rect">
            <a:avLst/>
          </a:prstGeom>
          <a:solidFill>
            <a:srgbClr val="121824"/>
          </a:solidFill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73736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00"/>
              </a:lnSpc>
              <a:defRPr sz="1600" b="1">
                <a:solidFill>
                  <a:srgbClr val="00D4FF"/>
                </a:solidFill>
                <a:latin typeface="PingFang SC"/>
              </a:defRPr>
            </a:pPr>
            <a:r>
              <a:rPr a:altLang="zh-CN"/>
              <a:t>开发者“超级个体”化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057400"/>
            <a:ext cx="2286000" cy="1691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200" b="0">
                <a:solidFill>
                  <a:srgbClr val="FFFFFF"/>
                </a:solidFill>
                <a:latin typeface="PingFang SC"/>
              </a:defRPr>
            </a:pPr>
            <a:r>
              <a:t>AI 编程工具让个人 = 一个团队</a:t>
            </a:r>
            <a:br/>
            <a:r>
              <a:t>129 万独立开发者的算力需求</a:t>
            </a:r>
            <a:br/>
            <a:r>
              <a:t>大云厂商看不上（收入占比 &lt;5%）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0" y="1463040"/>
            <a:ext cx="265176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26880" y="1600200"/>
            <a:ext cx="2651760" cy="2286000"/>
          </a:xfrm>
          <a:prstGeom prst="rect">
            <a:avLst/>
          </a:prstGeom>
          <a:solidFill>
            <a:srgbClr val="121824"/>
          </a:solidFill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173736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00"/>
              </a:lnSpc>
              <a:defRPr sz="1600" b="1">
                <a:solidFill>
                  <a:srgbClr val="FFD700"/>
                </a:solidFill>
                <a:latin typeface="PingFang SC"/>
              </a:defRPr>
            </a:pPr>
            <a:r>
              <a:rPr a:altLang="zh-CN"/>
              <a:t>同类项目已验证融资路径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2057400"/>
            <a:ext cx="2286000" cy="1691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200" b="0">
                <a:solidFill>
                  <a:srgbClr val="FFFFFF"/>
                </a:solidFill>
                <a:latin typeface="PingFang SC"/>
              </a:defRPr>
            </a:pPr>
            <a:r>
              <a:t>密瓜智能 种子轮 500万+</a:t>
            </a:r>
            <a:br/>
            <a:r>
              <a:t>→ 天使轮数千万</a:t>
            </a:r>
            <a:br/>
            <a:r>
              <a:t>赛道融资热度持续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defRPr sz="1000" b="0">
                <a:solidFill>
                  <a:srgbClr val="555E6B"/>
                </a:solidFill>
                <a:latin typeface="PingFang SC"/>
              </a:defRPr>
            </a:pPr>
            <a:r>
              <a:rPr a:altLang="zh-CN"/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300"/>
              </a:lnSpc>
              <a:defRPr sz="2800" b="1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市场空间——自下而上算的账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09728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300" b="0">
                <a:solidFill>
                  <a:srgbClr val="8893A0"/>
                </a:solidFill>
                <a:latin typeface="PingFang SC"/>
              </a:defRPr>
            </a:pPr>
            <a:r>
              <a:rPr a:altLang="zh-CN"/>
              <a:t>不拍脑袋，从真实用户数往上乘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defRPr sz="1500" b="0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目标用户池  324 万人  （195 万小团队 + 129 万独立开发者）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defRPr sz="1500" b="0">
                <a:solidFill>
                  <a:srgbClr val="8893A0"/>
                </a:solidFill>
                <a:latin typeface="PingFang SC"/>
              </a:defRPr>
            </a:pPr>
            <a:r>
              <a:rPr a:altLang="zh-CN"/>
              <a:t>↓  需 GPU 的 AI 开发者（60%）  →  194 万人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defRPr sz="1500" b="0">
                <a:solidFill>
                  <a:srgbClr val="8893A0"/>
                </a:solidFill>
                <a:latin typeface="PingFang SC"/>
              </a:defRPr>
            </a:pPr>
            <a:r>
              <a:rPr a:altLang="zh-CN"/>
              <a:t>↓  × 人均年 GPU 消费 5,000 元（参考 AutoDL 用户行为数据）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defRPr sz="1500" b="0">
                <a:solidFill>
                  <a:srgbClr val="8893A0"/>
                </a:solidFill>
                <a:latin typeface="PingFang SC"/>
              </a:defRPr>
            </a:pPr>
            <a:r>
              <a:rPr a:altLang="zh-CN"/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91840"/>
            <a:ext cx="3474720" cy="1920240"/>
          </a:xfrm>
          <a:prstGeom prst="rect">
            <a:avLst/>
          </a:prstGeom>
          <a:solidFill>
            <a:srgbClr val="121824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42900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400" b="1">
                <a:solidFill>
                  <a:srgbClr val="00FF88"/>
                </a:solidFill>
                <a:latin typeface="PingFang SC"/>
              </a:defRPr>
            </a:pPr>
            <a:r>
              <a:rPr a:altLang="zh-CN"/>
              <a:t>TAM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749039"/>
            <a:ext cx="3017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100"/>
              </a:lnSpc>
              <a:defRPr sz="2600" b="1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≈ 97 亿元/年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297680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rPr a:altLang="zh-CN"/>
              <a:t>总可触达市场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59" y="3291840"/>
            <a:ext cx="3474720" cy="1920240"/>
          </a:xfrm>
          <a:prstGeom prst="rect">
            <a:avLst/>
          </a:prstGeom>
          <a:solidFill>
            <a:srgbClr val="121824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59" y="342900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400" b="1">
                <a:solidFill>
                  <a:srgbClr val="00D4FF"/>
                </a:solidFill>
                <a:latin typeface="PingFang SC"/>
              </a:defRPr>
            </a:pPr>
            <a:r>
              <a:rPr a:altLang="zh-CN"/>
              <a:t>SAM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59" y="3749039"/>
            <a:ext cx="3017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100"/>
              </a:lnSpc>
              <a:defRPr sz="2600" b="1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≈ 50 亿元/年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4297680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rPr a:altLang="zh-CN"/>
              <a:t>可服务市场（聚焦创业公司</a:t>
            </a:r>
            <a:br/>
            <a:r>
              <a:rPr a:altLang="zh-CN"/>
              <a:t>+独立开发者）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3291840"/>
            <a:ext cx="3474720" cy="1920240"/>
          </a:xfrm>
          <a:prstGeom prst="rect">
            <a:avLst/>
          </a:prstGeom>
          <a:solidFill>
            <a:srgbClr val="121824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342900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400" b="1">
                <a:solidFill>
                  <a:srgbClr val="FFD700"/>
                </a:solidFill>
                <a:latin typeface="PingFang SC"/>
              </a:defRPr>
            </a:pPr>
            <a:r>
              <a:rPr a:altLang="zh-CN"/>
              <a:t>SOM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749039"/>
            <a:ext cx="3017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100"/>
              </a:lnSpc>
              <a:defRPr sz="2600" b="1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2,500万 ~ 1亿/年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4297680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rPr a:altLang="zh-CN"/>
              <a:t>3年后市场份额 0.5%~2%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57784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300" b="0">
                <a:solidFill>
                  <a:srgbClr val="8893A0"/>
                </a:solidFill>
                <a:latin typeface="PingFang SC"/>
              </a:defRPr>
            </a:pPr>
            <a:r>
              <a:rPr a:altLang="zh-CN"/>
              <a:t>全球 GPU 算力租赁市场：74 亿美元（2025）→ 282 亿美元（2032）· CAGR 21.4%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00"/>
              </a:lnSpc>
              <a:defRPr sz="900" b="0">
                <a:solidFill>
                  <a:srgbClr val="555E6B"/>
                </a:solidFill>
                <a:latin typeface="PingFang SC"/>
              </a:defRPr>
            </a:pPr>
            <a:r>
              <a:rPr a:altLang="zh-CN"/>
              <a:t>数据来源：知乎×魔搭白皮书、AutoDL 公开定价、格隆汇、辰宇信息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defRPr sz="1000" b="0">
                <a:solidFill>
                  <a:srgbClr val="555E6B"/>
                </a:solidFill>
                <a:latin typeface="PingFang SC"/>
              </a:defRPr>
            </a:pPr>
            <a:r>
              <a:rPr a:altLang="zh-CN"/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300"/>
              </a:lnSpc>
              <a:defRPr sz="2800" b="1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产品——三阶段演进路线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09728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300" b="0">
                <a:solidFill>
                  <a:srgbClr val="8893A0"/>
                </a:solidFill>
                <a:latin typeface="PingFang SC"/>
              </a:defRPr>
            </a:pPr>
            <a:r>
              <a:rPr a:altLang="zh-CN"/>
              <a:t>核心逻辑：用代理验证 PMF → 用 PMF 融资 → 用资本建资产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566160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3291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300" b="1">
                <a:solidFill>
                  <a:srgbClr val="0A0E17"/>
                </a:solidFill>
                <a:latin typeface="PingFang SC"/>
              </a:defRPr>
            </a:pPr>
            <a:r>
              <a:rPr a:altLang="zh-CN"/>
              <a:t>Phase 1 · 纯代理    0 ~ 12 月    毛利率 10~25%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3566160" cy="2286000"/>
          </a:xfrm>
          <a:prstGeom prst="rect">
            <a:avLst/>
          </a:prstGeom>
          <a:solidFill>
            <a:srgbClr val="121824"/>
          </a:solidFill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320040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300" b="0">
                <a:solidFill>
                  <a:srgbClr val="FFFFFF"/>
                </a:solidFill>
                <a:latin typeface="PingFang SC"/>
              </a:defRPr>
            </a:pPr>
            <a:r>
              <a:t>多云聚合，零资产启动。</a:t>
            </a:r>
            <a:br/>
            <a:r>
              <a:t>阿里云 + 华为云 + 腾讯云</a:t>
            </a:r>
            <a:br/>
            <a:r>
              <a:t>GPU 实例统一调度。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274320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800"/>
              </a:lnSpc>
              <a:defRPr sz="2400" b="1">
                <a:solidFill>
                  <a:srgbClr val="00D4FF"/>
                </a:solidFill>
                <a:latin typeface="PingFang SC"/>
              </a:defRPr>
            </a:pPr>
            <a:r>
              <a:rPr a:altLang="zh-CN"/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463040"/>
            <a:ext cx="3566160" cy="4572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481328"/>
            <a:ext cx="3291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300" b="1">
                <a:solidFill>
                  <a:srgbClr val="0A0E17"/>
                </a:solidFill>
                <a:latin typeface="PingFang SC"/>
              </a:defRPr>
            </a:pPr>
            <a:r>
              <a:rPr a:altLang="zh-CN"/>
              <a:t>Phase 2 · 混合云    12 ~ 24 月    毛利率 25~45%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2011680"/>
            <a:ext cx="3566160" cy="2286000"/>
          </a:xfrm>
          <a:prstGeom prst="rect">
            <a:avLst/>
          </a:prstGeom>
          <a:solidFill>
            <a:srgbClr val="121824"/>
          </a:solidFill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148840"/>
            <a:ext cx="320040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300" b="0">
                <a:solidFill>
                  <a:srgbClr val="FFFFFF"/>
                </a:solidFill>
                <a:latin typeface="PingFang SC"/>
              </a:defRPr>
            </a:pPr>
            <a:r>
              <a:t>自有 GPU + 云 Spot + 闲置撮合</a:t>
            </a:r>
            <a:br/>
            <a:r>
              <a:t>三轨并行。首批 8~16 张 H100</a:t>
            </a:r>
            <a:br/>
            <a:r>
              <a:t>部署西部枢纽（低电价 + 算力券）。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274320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800"/>
              </a:lnSpc>
              <a:defRPr sz="2400" b="1">
                <a:solidFill>
                  <a:srgbClr val="00D4FF"/>
                </a:solidFill>
                <a:latin typeface="PingFang SC"/>
              </a:defRPr>
            </a:pPr>
            <a:r>
              <a:rPr a:altLang="zh-CN"/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463040"/>
            <a:ext cx="3566160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481328"/>
            <a:ext cx="3291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300" b="1">
                <a:solidFill>
                  <a:srgbClr val="0A0E17"/>
                </a:solidFill>
                <a:latin typeface="PingFang SC"/>
              </a:defRPr>
            </a:pPr>
            <a:r>
              <a:rPr a:altLang="zh-CN"/>
              <a:t>Phase 3 · 资产运营    24 ~ 36 月+    毛利率 40~55%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2011680"/>
            <a:ext cx="3566160" cy="2286000"/>
          </a:xfrm>
          <a:prstGeom prst="rect">
            <a:avLst/>
          </a:prstGeom>
          <a:solidFill>
            <a:srgbClr val="121824"/>
          </a:solidFill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148840"/>
            <a:ext cx="320040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300" b="0">
                <a:solidFill>
                  <a:srgbClr val="FFFFFF"/>
                </a:solidFill>
                <a:latin typeface="PingFang SC"/>
              </a:defRPr>
            </a:pPr>
            <a:r>
              <a:t>自有 GPU 规模化。</a:t>
            </a:r>
            <a:br/>
            <a:r>
              <a:t>算力期货/远期合约。</a:t>
            </a:r>
            <a:br/>
            <a:r>
              <a:t>调度 SaaS 输出给 IDC 运营商。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defRPr sz="1000" b="0">
                <a:solidFill>
                  <a:srgbClr val="555E6B"/>
                </a:solidFill>
                <a:latin typeface="PingFang SC"/>
              </a:defRPr>
            </a:pPr>
            <a:r>
              <a:rPr a:altLang="zh-CN"/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300"/>
              </a:lnSpc>
              <a:defRPr sz="2800" b="1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盈利模型——不是讲故事，是算账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09728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300" b="0">
                <a:solidFill>
                  <a:srgbClr val="8893A0"/>
                </a:solidFill>
                <a:latin typeface="PingFang SC"/>
              </a:defRPr>
            </a:pPr>
            <a:r>
              <a:rPr a:altLang="zh-CN"/>
              <a:t>假设来源：AutoDL 用户行为数据、云厂商代理政策、IDC 市场报价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00"/>
              </a:lnSpc>
              <a:defRPr sz="1700" b="1">
                <a:solidFill>
                  <a:srgbClr val="00D4FF"/>
                </a:solidFill>
                <a:latin typeface="PingFang SC"/>
              </a:defRPr>
            </a:pPr>
            <a:r>
              <a:rPr a:altLang="zh-CN"/>
              <a:t>代理模式单位经济学（第一阶段）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5303520" cy="3291840"/>
          </a:xfrm>
          <a:prstGeom prst="rect">
            <a:avLst/>
          </a:prstGeom>
          <a:solidFill>
            <a:srgbClr val="121824"/>
          </a:solidFill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300" b="0">
                <a:solidFill>
                  <a:srgbClr val="8893A0"/>
                </a:solidFill>
                <a:latin typeface="PingFang SC"/>
              </a:defRPr>
            </a:pPr>
            <a:r>
              <a:rPr a:altLang="zh-CN"/>
              <a:t>CAC（用户获取成本）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920240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500"/>
              </a:lnSpc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150 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04288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300" b="0">
                <a:solidFill>
                  <a:srgbClr val="8893A0"/>
                </a:solidFill>
                <a:latin typeface="PingFang SC"/>
              </a:defRPr>
            </a:pPr>
            <a:r>
              <a:rPr a:altLang="zh-CN"/>
              <a:t>ARPU（月均消费）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304288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500"/>
              </a:lnSpc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600 元/月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88336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300" b="0">
                <a:solidFill>
                  <a:srgbClr val="8893A0"/>
                </a:solidFill>
                <a:latin typeface="PingFang SC"/>
              </a:defRPr>
            </a:pPr>
            <a:r>
              <a:rPr a:altLang="zh-CN"/>
              <a:t>毛利率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688336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500"/>
              </a:lnSpc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72384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300" b="0">
                <a:solidFill>
                  <a:srgbClr val="8893A0"/>
                </a:solidFill>
                <a:latin typeface="PingFang SC"/>
              </a:defRPr>
            </a:pPr>
            <a:r>
              <a:rPr a:altLang="zh-CN"/>
              <a:t>用户平均生命周期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072384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500"/>
              </a:lnSpc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20 个月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456432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300" b="0">
                <a:solidFill>
                  <a:srgbClr val="8893A0"/>
                </a:solidFill>
                <a:latin typeface="PingFang SC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3657600" y="3456432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500"/>
              </a:lnSpc>
              <a:defRPr sz="1300" b="1">
                <a:solidFill>
                  <a:srgbClr val="FFFFFF"/>
                </a:solidFill>
                <a:latin typeface="PingFang SC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777240" y="384048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300" b="0">
                <a:solidFill>
                  <a:srgbClr val="8893A0"/>
                </a:solidFill>
                <a:latin typeface="PingFang SC"/>
              </a:defRPr>
            </a:pPr>
            <a:r>
              <a:rPr a:altLang="zh-CN"/>
              <a:t>LTV = 600 × 20% × 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840480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500"/>
              </a:lnSpc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= 2,400 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526280"/>
            <a:ext cx="4846320" cy="457200"/>
          </a:xfrm>
          <a:prstGeom prst="rect">
            <a:avLst/>
          </a:prstGeom>
          <a:solidFill>
            <a:srgbClr val="0A3020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553712"/>
            <a:ext cx="4572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400" b="1">
                <a:solidFill>
                  <a:srgbClr val="00FF88"/>
                </a:solidFill>
                <a:latin typeface="PingFang SC"/>
              </a:defRPr>
            </a:pPr>
            <a:r>
              <a:rPr a:altLang="zh-CN"/>
              <a:t>LTV : CAC = 16 : 1    （SaaS 健康基准 ≥ 3:1）   回本周期：1.25 个月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137160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00"/>
              </a:lnSpc>
              <a:defRPr sz="1700" b="1">
                <a:solidFill>
                  <a:srgbClr val="00FF88"/>
                </a:solidFill>
                <a:latin typeface="PingFang SC"/>
              </a:defRPr>
            </a:pPr>
            <a:r>
              <a:rPr a:altLang="zh-CN"/>
              <a:t>自有 GPU 经济账（单台 8 卡 H100）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1783080"/>
            <a:ext cx="5303520" cy="3291840"/>
          </a:xfrm>
          <a:prstGeom prst="rect">
            <a:avLst/>
          </a:prstGeom>
          <a:solidFill>
            <a:srgbClr val="121824"/>
          </a:solidFill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80" y="1920240"/>
            <a:ext cx="292608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300" b="0">
                <a:solidFill>
                  <a:srgbClr val="8893A0"/>
                </a:solidFill>
                <a:latin typeface="PingFang SC"/>
              </a:defRPr>
            </a:pPr>
            <a:r>
              <a:rPr a:altLang="zh-CN"/>
              <a:t>投入（CAPEX）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1920240"/>
            <a:ext cx="1828800" cy="33832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500"/>
              </a:lnSpc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164 万元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2350008"/>
            <a:ext cx="292608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300" b="0">
                <a:solidFill>
                  <a:srgbClr val="8893A0"/>
                </a:solidFill>
                <a:latin typeface="PingFang SC"/>
              </a:defRPr>
            </a:pPr>
            <a:r>
              <a:rPr a:altLang="zh-CN"/>
              <a:t>月运营成本（OPEX）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2350008"/>
            <a:ext cx="1828800" cy="33832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500"/>
              </a:lnSpc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6.6 万元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2779776"/>
            <a:ext cx="292608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300" b="0">
                <a:solidFill>
                  <a:srgbClr val="8893A0"/>
                </a:solidFill>
                <a:latin typeface="PingFang SC"/>
              </a:defRPr>
            </a:pPr>
            <a:r>
              <a:rPr a:altLang="zh-CN"/>
              <a:t>月收入（70% 利用率 @35元/时）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2779776"/>
            <a:ext cx="1828800" cy="33832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500"/>
              </a:lnSpc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14.1 万元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3209544"/>
            <a:ext cx="292608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300" b="0">
                <a:solidFill>
                  <a:srgbClr val="8893A0"/>
                </a:solidFill>
                <a:latin typeface="PingFang SC"/>
              </a:defRPr>
            </a:pPr>
            <a:r>
              <a:rPr a:altLang="zh-CN"/>
              <a:t>月毛利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3209544"/>
            <a:ext cx="1828800" cy="33832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500"/>
              </a:lnSpc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7.5 万元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3639312"/>
            <a:ext cx="292608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300" b="0">
                <a:solidFill>
                  <a:srgbClr val="8893A0"/>
                </a:solidFill>
                <a:latin typeface="PingFang SC"/>
              </a:defRPr>
            </a:pPr>
            <a:r>
              <a:rPr a:altLang="zh-CN"/>
              <a:t>毛利率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3639312"/>
            <a:ext cx="1828800" cy="33832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500"/>
              </a:lnSpc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53%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4069079"/>
            <a:ext cx="292608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300" b="0">
                <a:solidFill>
                  <a:srgbClr val="8893A0"/>
                </a:solidFill>
                <a:latin typeface="PingFang SC"/>
              </a:defRPr>
            </a:pPr>
            <a:r>
              <a:rPr a:altLang="zh-CN"/>
              <a:t>投资回收期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4069079"/>
            <a:ext cx="1828800" cy="33832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500"/>
              </a:lnSpc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22 个月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457200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rPr a:altLang="zh-CN"/>
              <a:t>西部枢纽部署（低电价 + 算力券 30%）可缩至 18 个月回本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defRPr sz="1000" b="0">
                <a:solidFill>
                  <a:srgbClr val="555E6B"/>
                </a:solidFill>
                <a:latin typeface="PingFang SC"/>
              </a:defRPr>
            </a:pPr>
            <a:r>
              <a:rPr a:altLang="zh-CN"/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300"/>
              </a:lnSpc>
              <a:defRPr sz="2800" b="1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竞争格局——结构性空白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09728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300" b="0">
                <a:solidFill>
                  <a:srgbClr val="8893A0"/>
                </a:solidFill>
                <a:latin typeface="PingFang SC"/>
              </a:defRPr>
            </a:pPr>
            <a:r>
              <a:rPr a:altLang="zh-CN"/>
              <a:t>大厂“看不上”个人开发者 · 小厂“够不到”企业级 GPU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828800" cy="502920"/>
          </a:xfrm>
          <a:prstGeom prst="rect">
            <a:avLst/>
          </a:prstGeom>
          <a:solidFill>
            <a:srgbClr val="121824"/>
          </a:solidFill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554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300" b="1">
                <a:solidFill>
                  <a:srgbClr val="FFFFFF"/>
                </a:solidFill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2468880" y="1371600"/>
            <a:ext cx="2926080" cy="502920"/>
          </a:xfrm>
          <a:prstGeom prst="rect">
            <a:avLst/>
          </a:prstGeom>
          <a:solidFill>
            <a:srgbClr val="121824"/>
          </a:solidFill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1417320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500"/>
              </a:lnSpc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大云厂商</a:t>
            </a:r>
            <a:br/>
            <a:r>
              <a:rPr a:altLang="zh-CN"/>
              <a:t>阿里云 / 华为云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4960" y="1371600"/>
            <a:ext cx="2926080" cy="502920"/>
          </a:xfrm>
          <a:prstGeom prst="rect">
            <a:avLst/>
          </a:prstGeom>
          <a:solidFill>
            <a:srgbClr val="00D4FF"/>
          </a:solidFill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0" y="1417320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500"/>
              </a:lnSpc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算力通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1371600"/>
            <a:ext cx="2926080" cy="502920"/>
          </a:xfrm>
          <a:prstGeom prst="rect">
            <a:avLst/>
          </a:prstGeom>
          <a:solidFill>
            <a:srgbClr val="121824"/>
          </a:solidFill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417320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500"/>
              </a:lnSpc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第三方平台</a:t>
            </a:r>
            <a:br/>
            <a:r>
              <a:rPr a:altLang="zh-CN"/>
              <a:t>AutoDL / 恒源云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874520"/>
            <a:ext cx="1828800" cy="502920"/>
          </a:xfrm>
          <a:prstGeom prst="rect">
            <a:avLst/>
          </a:prstGeom>
          <a:noFill/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920240"/>
            <a:ext cx="1554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0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GPU 类型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68880" y="1874520"/>
            <a:ext cx="2926080" cy="502920"/>
          </a:xfrm>
          <a:prstGeom prst="rect">
            <a:avLst/>
          </a:prstGeom>
          <a:noFill/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06040" y="1920240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00"/>
              </a:lnSpc>
              <a:defRPr sz="1200" b="0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企业级为主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94960" y="1874520"/>
            <a:ext cx="2926080" cy="502920"/>
          </a:xfrm>
          <a:prstGeom prst="rect">
            <a:avLst/>
          </a:prstGeom>
          <a:solidFill>
            <a:srgbClr val="0A2530"/>
          </a:solidFill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32120" y="1920240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00"/>
              </a:lnSpc>
              <a:defRPr sz="1200" b="0">
                <a:solidFill>
                  <a:srgbClr val="00D4FF"/>
                </a:solidFill>
                <a:latin typeface="PingFang SC"/>
              </a:defRPr>
            </a:pPr>
            <a:r>
              <a:rPr a:altLang="zh-CN"/>
              <a:t>企业级为主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1874520"/>
            <a:ext cx="2926080" cy="502920"/>
          </a:xfrm>
          <a:prstGeom prst="rect">
            <a:avLst/>
          </a:prstGeom>
          <a:noFill/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1920240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00"/>
              </a:lnSpc>
              <a:defRPr sz="1200" b="0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消费级为主</a:t>
            </a:r>
            <a:br/>
            <a:r>
              <a:rPr a:altLang="zh-CN"/>
              <a:t>(4090 / 3090)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2377440"/>
            <a:ext cx="1828800" cy="502920"/>
          </a:xfrm>
          <a:prstGeom prst="rect">
            <a:avLst/>
          </a:prstGeom>
          <a:noFill/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423160"/>
            <a:ext cx="1554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0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计费粒度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68880" y="2377440"/>
            <a:ext cx="2926080" cy="502920"/>
          </a:xfrm>
          <a:prstGeom prst="rect">
            <a:avLst/>
          </a:prstGeom>
          <a:noFill/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06040" y="2423160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00"/>
              </a:lnSpc>
              <a:defRPr sz="1200" b="0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按小时 / 包月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94960" y="2377440"/>
            <a:ext cx="2926080" cy="502920"/>
          </a:xfrm>
          <a:prstGeom prst="rect">
            <a:avLst/>
          </a:prstGeom>
          <a:solidFill>
            <a:srgbClr val="0A2530"/>
          </a:solidFill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32120" y="2423160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00"/>
              </a:lnSpc>
              <a:defRPr sz="1200" b="0">
                <a:solidFill>
                  <a:srgbClr val="00D4FF"/>
                </a:solidFill>
                <a:latin typeface="PingFang SC"/>
              </a:defRPr>
            </a:pPr>
            <a:r>
              <a:rPr a:altLang="zh-CN"/>
              <a:t>按秒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2377440"/>
            <a:ext cx="2926080" cy="502920"/>
          </a:xfrm>
          <a:prstGeom prst="rect">
            <a:avLst/>
          </a:prstGeom>
          <a:noFill/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200" y="2423160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00"/>
              </a:lnSpc>
              <a:defRPr sz="1200" b="0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按小时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2880360"/>
            <a:ext cx="1828800" cy="502920"/>
          </a:xfrm>
          <a:prstGeom prst="rect">
            <a:avLst/>
          </a:prstGeom>
          <a:noFill/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2926080"/>
            <a:ext cx="1554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0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跨云比价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68880" y="2880360"/>
            <a:ext cx="2926080" cy="502920"/>
          </a:xfrm>
          <a:prstGeom prst="rect">
            <a:avLst/>
          </a:prstGeom>
          <a:noFill/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06040" y="2926080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00"/>
              </a:lnSpc>
              <a:defRPr sz="1200" b="0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94960" y="2880360"/>
            <a:ext cx="2926080" cy="502920"/>
          </a:xfrm>
          <a:prstGeom prst="rect">
            <a:avLst/>
          </a:prstGeom>
          <a:solidFill>
            <a:srgbClr val="0A2530"/>
          </a:solidFill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0" y="2926080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00"/>
              </a:lnSpc>
              <a:defRPr sz="1200" b="0">
                <a:solidFill>
                  <a:srgbClr val="00D4FF"/>
                </a:solidFill>
                <a:latin typeface="PingFang SC"/>
              </a:defRPr>
            </a:pPr>
            <a:r>
              <a:rPr a:altLang="zh-CN"/>
              <a:t>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40" y="2880360"/>
            <a:ext cx="2926080" cy="502920"/>
          </a:xfrm>
          <a:prstGeom prst="rect">
            <a:avLst/>
          </a:prstGeom>
          <a:noFill/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58200" y="2926080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00"/>
              </a:lnSpc>
              <a:defRPr sz="1200" b="0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3383280"/>
            <a:ext cx="1828800" cy="502920"/>
          </a:xfrm>
          <a:prstGeom prst="rect">
            <a:avLst/>
          </a:prstGeom>
          <a:noFill/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3429000"/>
            <a:ext cx="1554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0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开箱即用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68880" y="3383280"/>
            <a:ext cx="2926080" cy="502920"/>
          </a:xfrm>
          <a:prstGeom prst="rect">
            <a:avLst/>
          </a:prstGeom>
          <a:noFill/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06040" y="3429000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00"/>
              </a:lnSpc>
              <a:defRPr sz="1200" b="0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✗（需配 VPC/NAS/CUDA）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94960" y="3383280"/>
            <a:ext cx="2926080" cy="502920"/>
          </a:xfrm>
          <a:prstGeom prst="rect">
            <a:avLst/>
          </a:prstGeom>
          <a:solidFill>
            <a:srgbClr val="0A2530"/>
          </a:solidFill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32120" y="3429000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00"/>
              </a:lnSpc>
              <a:defRPr sz="1200" b="0">
                <a:solidFill>
                  <a:srgbClr val="00D4FF"/>
                </a:solidFill>
                <a:latin typeface="PingFang SC"/>
              </a:defRPr>
            </a:pPr>
            <a:r>
              <a:rPr a:altLang="zh-CN"/>
              <a:t>✓（3 分钟就绪）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21040" y="3383280"/>
            <a:ext cx="2926080" cy="502920"/>
          </a:xfrm>
          <a:prstGeom prst="rect">
            <a:avLst/>
          </a:prstGeom>
          <a:noFill/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58200" y="3429000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00"/>
              </a:lnSpc>
              <a:defRPr sz="1200" b="0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3886200"/>
            <a:ext cx="1828800" cy="502920"/>
          </a:xfrm>
          <a:prstGeom prst="rect">
            <a:avLst/>
          </a:prstGeom>
          <a:noFill/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3931920"/>
            <a:ext cx="1554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0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算力券代申领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468880" y="3886200"/>
            <a:ext cx="2926080" cy="502920"/>
          </a:xfrm>
          <a:prstGeom prst="rect">
            <a:avLst/>
          </a:prstGeom>
          <a:noFill/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06040" y="3931920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00"/>
              </a:lnSpc>
              <a:defRPr sz="1200" b="0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94960" y="3886200"/>
            <a:ext cx="2926080" cy="502920"/>
          </a:xfrm>
          <a:prstGeom prst="rect">
            <a:avLst/>
          </a:prstGeom>
          <a:solidFill>
            <a:srgbClr val="0A2530"/>
          </a:solidFill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32120" y="3931920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00"/>
              </a:lnSpc>
              <a:defRPr sz="1200" b="0">
                <a:solidFill>
                  <a:srgbClr val="00D4FF"/>
                </a:solidFill>
                <a:latin typeface="PingFang SC"/>
              </a:defRPr>
            </a:pPr>
            <a:r>
              <a:rPr a:altLang="zh-CN"/>
              <a:t>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21040" y="3886200"/>
            <a:ext cx="2926080" cy="502920"/>
          </a:xfrm>
          <a:prstGeom prst="rect">
            <a:avLst/>
          </a:prstGeom>
          <a:noFill/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58200" y="3931920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00"/>
              </a:lnSpc>
              <a:defRPr sz="1200" b="0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✗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" y="4389120"/>
            <a:ext cx="1828800" cy="502920"/>
          </a:xfrm>
          <a:prstGeom prst="rect">
            <a:avLst/>
          </a:prstGeom>
          <a:noFill/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7240" y="4434840"/>
            <a:ext cx="1554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0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合规增值服务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68880" y="4389120"/>
            <a:ext cx="2926080" cy="502920"/>
          </a:xfrm>
          <a:prstGeom prst="rect">
            <a:avLst/>
          </a:prstGeom>
          <a:noFill/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606040" y="4434840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00"/>
              </a:lnSpc>
              <a:defRPr sz="1200" b="0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✗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394960" y="4389120"/>
            <a:ext cx="2926080" cy="502920"/>
          </a:xfrm>
          <a:prstGeom prst="rect">
            <a:avLst/>
          </a:prstGeom>
          <a:solidFill>
            <a:srgbClr val="0A2530"/>
          </a:solidFill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32120" y="4434840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00"/>
              </a:lnSpc>
              <a:defRPr sz="1200" b="0">
                <a:solidFill>
                  <a:srgbClr val="00D4FF"/>
                </a:solidFill>
                <a:latin typeface="PingFang SC"/>
              </a:defRPr>
            </a:pPr>
            <a:r>
              <a:rPr a:altLang="zh-CN"/>
              <a:t>✓（法律+金融背景）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321040" y="4389120"/>
            <a:ext cx="2926080" cy="502920"/>
          </a:xfrm>
          <a:prstGeom prst="rect">
            <a:avLst/>
          </a:prstGeom>
          <a:noFill/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58200" y="4434840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00"/>
              </a:lnSpc>
              <a:defRPr sz="1200" b="0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✗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" y="4892040"/>
            <a:ext cx="1828800" cy="502920"/>
          </a:xfrm>
          <a:prstGeom prst="rect">
            <a:avLst/>
          </a:prstGeom>
          <a:noFill/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77240" y="4937760"/>
            <a:ext cx="1554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0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目标用户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468880" y="4892040"/>
            <a:ext cx="2926080" cy="502920"/>
          </a:xfrm>
          <a:prstGeom prst="rect">
            <a:avLst/>
          </a:prstGeom>
          <a:noFill/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606040" y="4937760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00"/>
              </a:lnSpc>
              <a:defRPr sz="1200" b="0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政企 / 中大互联网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394960" y="4892040"/>
            <a:ext cx="2926080" cy="502920"/>
          </a:xfrm>
          <a:prstGeom prst="rect">
            <a:avLst/>
          </a:prstGeom>
          <a:solidFill>
            <a:srgbClr val="0A2530"/>
          </a:solidFill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532120" y="4937760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00"/>
              </a:lnSpc>
              <a:defRPr sz="1200" b="0">
                <a:solidFill>
                  <a:srgbClr val="00D4FF"/>
                </a:solidFill>
                <a:latin typeface="PingFang SC"/>
              </a:defRPr>
            </a:pPr>
            <a:r>
              <a:rPr a:altLang="zh-CN"/>
              <a:t>创业公司</a:t>
            </a:r>
            <a:br/>
            <a:r>
              <a:rPr a:altLang="zh-CN"/>
              <a:t>独立开发者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321040" y="4892040"/>
            <a:ext cx="2926080" cy="502920"/>
          </a:xfrm>
          <a:prstGeom prst="rect">
            <a:avLst/>
          </a:prstGeom>
          <a:noFill/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58200" y="4937760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00"/>
              </a:lnSpc>
              <a:defRPr sz="1200" b="0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学生 / 个人开发者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0080" y="557784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00"/>
              </a:lnSpc>
              <a:defRPr sz="1500" b="1">
                <a:solidFill>
                  <a:srgbClr val="00D4FF"/>
                </a:solidFill>
                <a:latin typeface="PingFang SC"/>
              </a:defRPr>
            </a:pPr>
            <a:r>
              <a:rPr a:altLang="zh-CN"/>
              <a:t>结构性空白：企业级 GPU + 开发者级体验 + 合规壁垒 → 大厂和小厂都复制不了的三重叠加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defRPr sz="1000" b="0">
                <a:solidFill>
                  <a:srgbClr val="555E6B"/>
                </a:solidFill>
                <a:latin typeface="PingFang SC"/>
              </a:defRPr>
            </a:pPr>
            <a:r>
              <a:rPr a:altLang="zh-CN"/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300"/>
              </a:lnSpc>
              <a:defRPr sz="2800" b="1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怎么获客——第一批 500 个付费用户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09728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300" b="0">
                <a:solidFill>
                  <a:srgbClr val="8893A0"/>
                </a:solidFill>
                <a:latin typeface="PingFang SC"/>
              </a:defRPr>
            </a:pPr>
            <a:r>
              <a:rPr a:altLang="zh-CN"/>
              <a:t>三条增长飞轮：开源引流 + 内容营销 + 政策杠杆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566160" cy="411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defRPr sz="1500" b="1">
                <a:solidFill>
                  <a:srgbClr val="0A0E17"/>
                </a:solidFill>
                <a:latin typeface="PingFang SC"/>
              </a:defRPr>
            </a:pPr>
            <a:r>
              <a:rPr a:altLang="zh-CN"/>
              <a:t>开源引流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3566160" cy="1828800"/>
          </a:xfrm>
          <a:prstGeom prst="rect">
            <a:avLst/>
          </a:prstGeom>
          <a:solidFill>
            <a:srgbClr val="121824"/>
          </a:solidFill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320040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t>GitHub 开源 GPU 比价 CLI 工具</a:t>
            </a:r>
          </a:p>
          <a:p>
            <a:pPr algn="l">
              <a:lnSpc>
                <a:spcPts val="15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t>Python SDK（pip install）</a:t>
            </a:r>
          </a:p>
          <a:p>
            <a:pPr algn="l">
              <a:lnSpc>
                <a:spcPts val="15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t>从贡献者中筛选早期员工</a:t>
            </a:r>
          </a:p>
          <a:p>
            <a:pPr algn="l">
              <a:lnSpc>
                <a:spcPts val="15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t>Star 数 → 自然流量 → 注册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463040"/>
            <a:ext cx="3566160" cy="41148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481328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defRPr sz="1500" b="1">
                <a:solidFill>
                  <a:srgbClr val="0A0E17"/>
                </a:solidFill>
                <a:latin typeface="PingFang SC"/>
              </a:defRPr>
            </a:pPr>
            <a:r>
              <a:rPr a:altLang="zh-CN"/>
              <a:t>内容营销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965960"/>
            <a:ext cx="3566160" cy="1828800"/>
          </a:xfrm>
          <a:prstGeom prst="rect">
            <a:avLst/>
          </a:prstGeom>
          <a:solidFill>
            <a:srgbClr val="121824"/>
          </a:solidFill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103120"/>
            <a:ext cx="320040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t>“AI 创业算力成本优化”系列</a:t>
            </a:r>
          </a:p>
          <a:p>
            <a:pPr algn="l">
              <a:lnSpc>
                <a:spcPts val="15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t>知乎 / CSDN / 掘金 / 即刻</a:t>
            </a:r>
          </a:p>
          <a:p>
            <a:pPr algn="l">
              <a:lnSpc>
                <a:spcPts val="15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t>真实数据 + 方法论</a:t>
            </a:r>
          </a:p>
          <a:p>
            <a:pPr algn="l">
              <a:lnSpc>
                <a:spcPts val="15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t>不投硬广，靠搜索长尾流量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463040"/>
            <a:ext cx="3566160" cy="4114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481328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defRPr sz="1500" b="1">
                <a:solidFill>
                  <a:srgbClr val="0A0E17"/>
                </a:solidFill>
                <a:latin typeface="PingFang SC"/>
              </a:defRPr>
            </a:pPr>
            <a:r>
              <a:rPr a:altLang="zh-CN"/>
              <a:t>算力券杠杆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965960"/>
            <a:ext cx="3566160" cy="1828800"/>
          </a:xfrm>
          <a:prstGeom prst="rect">
            <a:avLst/>
          </a:prstGeom>
          <a:solidFill>
            <a:srgbClr val="121824"/>
          </a:solidFill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103120"/>
            <a:ext cx="320040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t>免费帮开发者代申领算力券</a:t>
            </a:r>
          </a:p>
          <a:p>
            <a:pPr algn="l">
              <a:lnSpc>
                <a:spcPts val="15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t>贵州 30% · 呼市 5000 万/年</a:t>
            </a:r>
          </a:p>
          <a:p>
            <a:pPr algn="l">
              <a:lnSpc>
                <a:spcPts val="15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t>领到券 → 自然留在平台消费</a:t>
            </a:r>
          </a:p>
          <a:p>
            <a:pPr algn="l">
              <a:lnSpc>
                <a:spcPts val="15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t>政府补贴变获客成本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114800"/>
            <a:ext cx="11064240" cy="594360"/>
          </a:xfrm>
          <a:prstGeom prst="rect">
            <a:avLst/>
          </a:prstGeom>
          <a:solidFill>
            <a:srgbClr val="121824"/>
          </a:solidFill>
          <a:ln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160520"/>
            <a:ext cx="106984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00"/>
              </a:lnSpc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开源工具 + 内容 + 算力券  →  注册用户  →  免费 20 GPU 小时体验  →  付费转化  →  邀请团队成员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937760"/>
            <a:ext cx="11064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00"/>
              </a:lnSpc>
              <a:defRPr sz="1400" b="1">
                <a:solidFill>
                  <a:srgbClr val="00FF88"/>
                </a:solidFill>
                <a:latin typeface="PingFang SC"/>
              </a:defRPr>
            </a:pPr>
            <a:r>
              <a:rPr a:altLang="zh-CN"/>
              <a:t>M3: 1,000 注册 / 30 付费    →    M6: 3,000 注册 / 120 付费    →    M12: 10,000 注册 / 500 付费 / MRR 30 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defRPr sz="1000" b="0">
                <a:solidFill>
                  <a:srgbClr val="555E6B"/>
                </a:solidFill>
                <a:latin typeface="PingFang SC"/>
              </a:defRPr>
            </a:pPr>
            <a:r>
              <a:rPr a:altLang="zh-CN"/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300"/>
              </a:lnSpc>
              <a:defRPr sz="2800" b="1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三年路线图与 A 轮触发条件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09728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300" b="0">
                <a:solidFill>
                  <a:srgbClr val="8893A0"/>
                </a:solidFill>
                <a:latin typeface="PingFang SC"/>
              </a:defRPr>
            </a:pPr>
            <a:r>
              <a:rPr a:altLang="zh-CN"/>
              <a:t>不靠“觉得差不多了”，靠具体的数据指标触发下一轮融资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0" y="1463040"/>
            <a:ext cx="457200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481328"/>
            <a:ext cx="457200" cy="4206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00"/>
              </a:lnSpc>
              <a:defRPr sz="1800" b="1">
                <a:solidFill>
                  <a:srgbClr val="0A0E17"/>
                </a:solidFill>
                <a:latin typeface="PingFang SC"/>
              </a:defRPr>
            </a:pPr>
            <a:r>
              <a:rPr a:altLang="zh-CN"/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20" y="1673352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00"/>
              </a:lnSpc>
              <a:defRPr sz="1200" b="1">
                <a:solidFill>
                  <a:srgbClr val="00D4FF"/>
                </a:solidFill>
                <a:latin typeface="PingFang SC"/>
              </a:defRPr>
            </a:pPr>
            <a:r>
              <a:rPr a:altLang="zh-CN"/>
              <a:t>2026 Q3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3172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900"/>
              </a:lnSpc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种子轮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25603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rPr a:altLang="zh-CN"/>
              <a:t>200 万到位</a:t>
            </a:r>
            <a:br/>
            <a:r>
              <a:rPr a:altLang="zh-CN"/>
              <a:t>3 人团队组建</a:t>
            </a:r>
            <a:br/>
            <a:r>
              <a:rPr a:altLang="zh-CN"/>
              <a:t>MVP 启动开发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463040"/>
            <a:ext cx="457200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481328"/>
            <a:ext cx="457200" cy="4206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00"/>
              </a:lnSpc>
              <a:defRPr sz="1800" b="1">
                <a:solidFill>
                  <a:srgbClr val="0A0E17"/>
                </a:solidFill>
                <a:latin typeface="PingFang SC"/>
              </a:defRPr>
            </a:pPr>
            <a:r>
              <a:rPr a:altLang="zh-CN"/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673352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205740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00"/>
              </a:lnSpc>
              <a:defRPr sz="1200" b="1">
                <a:solidFill>
                  <a:srgbClr val="00D4FF"/>
                </a:solidFill>
                <a:latin typeface="PingFang SC"/>
              </a:defRPr>
            </a:pPr>
            <a:r>
              <a:rPr a:altLang="zh-CN"/>
              <a:t>2027 Q1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3172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900"/>
              </a:lnSpc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MVP 上线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651760"/>
            <a:ext cx="25603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rPr a:altLang="zh-CN"/>
              <a:t>阿里云 + 华为云对接</a:t>
            </a:r>
            <a:br/>
            <a:r>
              <a:rPr a:altLang="zh-CN"/>
              <a:t>1,000 注册 / 30 付费</a:t>
            </a:r>
            <a:br/>
            <a:r>
              <a:rPr a:altLang="zh-CN"/>
              <a:t>10 个预置镜像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0" y="1463040"/>
            <a:ext cx="457200" cy="4572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0" y="1481328"/>
            <a:ext cx="457200" cy="4206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00"/>
              </a:lnSpc>
              <a:defRPr sz="1800" b="1">
                <a:solidFill>
                  <a:srgbClr val="0A0E17"/>
                </a:solidFill>
                <a:latin typeface="PingFang SC"/>
              </a:defRPr>
            </a:pPr>
            <a:r>
              <a:rPr a:altLang="zh-CN"/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80" y="1673352"/>
            <a:ext cx="2286000" cy="381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05740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00"/>
              </a:lnSpc>
              <a:defRPr sz="1200" b="1">
                <a:solidFill>
                  <a:srgbClr val="00FF88"/>
                </a:solidFill>
                <a:latin typeface="PingFang SC"/>
              </a:defRPr>
            </a:pPr>
            <a:r>
              <a:rPr a:altLang="zh-CN"/>
              <a:t>2027 Q3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33172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900"/>
              </a:lnSpc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MRR 30 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651760"/>
            <a:ext cx="25603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rPr a:altLang="zh-CN"/>
              <a:t>500 付费用户</a:t>
            </a:r>
            <a:br/>
            <a:r>
              <a:rPr a:altLang="zh-CN"/>
              <a:t>盈亏平衡</a:t>
            </a:r>
            <a:br/>
            <a:r>
              <a:rPr a:altLang="zh-CN"/>
              <a:t>启动 A 轮融资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424160" y="1463040"/>
            <a:ext cx="457200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24160" y="1481328"/>
            <a:ext cx="457200" cy="4206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00"/>
              </a:lnSpc>
              <a:defRPr sz="1800" b="1">
                <a:solidFill>
                  <a:srgbClr val="0A0E17"/>
                </a:solidFill>
                <a:latin typeface="PingFang SC"/>
              </a:defRPr>
            </a:pPr>
            <a:r>
              <a:rPr a:altLang="zh-CN"/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205740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00"/>
              </a:lnSpc>
              <a:defRPr sz="1200" b="1">
                <a:solidFill>
                  <a:srgbClr val="FFD700"/>
                </a:solidFill>
                <a:latin typeface="PingFang SC"/>
              </a:defRPr>
            </a:pPr>
            <a:r>
              <a:rPr a:altLang="zh-CN"/>
              <a:t>2028 Q2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233172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900"/>
              </a:lnSpc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混合云上线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2651760"/>
            <a:ext cx="25603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rPr a:altLang="zh-CN"/>
              <a:t>首批自有 GPU 部署</a:t>
            </a:r>
            <a:br/>
            <a:r>
              <a:rPr a:altLang="zh-CN"/>
              <a:t>ARR 960 万+</a:t>
            </a:r>
            <a:br/>
            <a:r>
              <a:rPr a:altLang="zh-CN"/>
              <a:t>多区域扩张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840480"/>
            <a:ext cx="11064240" cy="2011680"/>
          </a:xfrm>
          <a:prstGeom prst="rect">
            <a:avLst/>
          </a:prstGeom>
          <a:solidFill>
            <a:srgbClr val="121824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977639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00"/>
              </a:lnSpc>
              <a:defRPr sz="1600" b="1">
                <a:solidFill>
                  <a:srgbClr val="00FF88"/>
                </a:solidFill>
                <a:latin typeface="PingFang SC"/>
              </a:defRPr>
            </a:pPr>
            <a:r>
              <a:rPr a:altLang="zh-CN"/>
              <a:t>A 轮触发条件（满足任意两项即可启动）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34340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300" b="0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□  MRR ≥ 50 万元，连续 3 个月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690872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300" b="0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□  MRR 月环比增长 ≥ 15%，连续 6 个月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038344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300" b="0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□  LTV/CAC ≥ 5:1  且  月流失率 ≤ 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385816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300" b="0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□  至少 4 张自有 GPU 稳定运营 3 个月，单卡毛利率 ≥ 40%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3977639"/>
            <a:ext cx="4114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400" b="1">
                <a:solidFill>
                  <a:srgbClr val="00D4FF"/>
                </a:solidFill>
                <a:latin typeface="PingFang SC"/>
              </a:defRPr>
            </a:pPr>
            <a:r>
              <a:rPr a:altLang="zh-CN"/>
              <a:t>A 轮目标</a:t>
            </a:r>
            <a:br/>
            <a:r>
              <a:rPr a:altLang="zh-CN"/>
              <a:t>1,500 ~ 2,500 万元</a:t>
            </a:r>
            <a:br/>
            <a:r>
              <a:rPr a:altLang="zh-CN"/>
              <a:t>用于首批 GPU 集群</a:t>
            </a:r>
            <a:br/>
            <a:r>
              <a:rPr a:altLang="zh-CN"/>
              <a:t>（20 ~ 40 张 H100/H20）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defRPr sz="1000" b="0">
                <a:solidFill>
                  <a:srgbClr val="555E6B"/>
                </a:solidFill>
                <a:latin typeface="PingFang SC"/>
              </a:defRPr>
            </a:pPr>
            <a:r>
              <a:rPr a:altLang="zh-CN"/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300"/>
              </a:lnSpc>
              <a:defRPr sz="2800" b="1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团队——为什么这个人能做成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09728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00" cy="4114800"/>
          </a:xfrm>
          <a:prstGeom prst="rect">
            <a:avLst/>
          </a:prstGeom>
          <a:solidFill>
            <a:srgbClr val="121824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4937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800"/>
              </a:lnSpc>
              <a:defRPr sz="2400" b="1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Eric  ·  创始人 &amp; CEO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4937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400" b="0">
                <a:solidFill>
                  <a:srgbClr val="00D4FF"/>
                </a:solidFill>
                <a:latin typeface="PingFang SC"/>
              </a:defRPr>
            </a:pPr>
            <a:r>
              <a:rPr a:altLang="zh-CN"/>
              <a:t>法律 × 金融 × 全栈开发  =  三重能力叠加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4937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400" b="1">
                <a:solidFill>
                  <a:srgbClr val="00FF88"/>
                </a:solidFill>
                <a:latin typeface="PingFang SC"/>
              </a:defRPr>
            </a:pPr>
            <a:r>
              <a:rPr a:altLang="zh-CN"/>
              <a:t>▸ 合规壁垒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49377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rPr a:altLang="zh-CN"/>
              <a:t>算力交易涉及跨境 GPU 管制、数据安全法、</a:t>
            </a:r>
            <a:br/>
            <a:r>
              <a:rPr a:altLang="zh-CN"/>
              <a:t>个人信息保护法、ICP 许可证——</a:t>
            </a:r>
            <a:br/>
            <a:r>
              <a:rPr a:altLang="zh-CN"/>
              <a:t>这是我的本行。竞品复制不了。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4937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400" b="1">
                <a:solidFill>
                  <a:srgbClr val="00FF88"/>
                </a:solidFill>
                <a:latin typeface="PingFang SC"/>
              </a:defRPr>
            </a:pPr>
            <a:r>
              <a:rPr a:altLang="zh-CN"/>
              <a:t>▸ 全栈工程能力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40480"/>
            <a:ext cx="49377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rPr a:altLang="zh-CN"/>
              <a:t>FastAPI + React + PostgreSQL</a:t>
            </a:r>
            <a:br/>
            <a:r>
              <a:rPr a:altLang="zh-CN"/>
              <a:t>独立交付完整 SaaS 产品（档口通 CRM）</a:t>
            </a:r>
            <a:br/>
            <a:r>
              <a:rPr a:altLang="zh-CN"/>
              <a:t>MVP 不需要等 CTO，我就能写。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572000"/>
            <a:ext cx="4937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400" b="1">
                <a:solidFill>
                  <a:srgbClr val="00FF88"/>
                </a:solidFill>
                <a:latin typeface="PingFang SC"/>
              </a:defRPr>
            </a:pPr>
            <a:r>
              <a:rPr a:altLang="zh-CN"/>
              <a:t>▸ 商务谈判能力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46320"/>
            <a:ext cx="49377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rPr a:altLang="zh-CN"/>
              <a:t>与云厂商谈代理协议、与投资人谈条款、</a:t>
            </a:r>
            <a:br/>
            <a:r>
              <a:rPr a:altLang="zh-CN"/>
              <a:t>与算力券管理部门对接——</a:t>
            </a:r>
            <a:br/>
            <a:r>
              <a:rPr a:altLang="zh-CN"/>
              <a:t>律师背景在这些场景中有天然优势。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37160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00"/>
              </a:lnSpc>
              <a:defRPr sz="1800" b="1">
                <a:solidFill>
                  <a:srgbClr val="00FF88"/>
                </a:solidFill>
                <a:latin typeface="PingFang SC"/>
              </a:defRPr>
            </a:pPr>
            <a:r>
              <a:rPr a:altLang="zh-CN"/>
              <a:t>种子轮拟招募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1920240"/>
            <a:ext cx="5029200" cy="822960"/>
          </a:xfrm>
          <a:prstGeom prst="rect">
            <a:avLst/>
          </a:prstGeom>
          <a:solidFill>
            <a:srgbClr val="121824"/>
          </a:solidFill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1993392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300" b="1">
                <a:solidFill>
                  <a:srgbClr val="00D4FF"/>
                </a:solidFill>
                <a:latin typeface="PingFang SC"/>
              </a:defRPr>
            </a:pPr>
            <a:r>
              <a:rPr a:altLang="zh-CN"/>
              <a:t>技术合伙人 / CTO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2267712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rPr a:altLang="zh-CN"/>
              <a:t>5% ~ 8% 股权 + 联合创始人 title</a:t>
            </a:r>
            <a:br/>
            <a:r>
              <a:rPr a:altLang="zh-CN"/>
              <a:t>3 年以上云计算/分布式系统经验</a:t>
            </a:r>
            <a:br/>
            <a:r>
              <a:rPr a:altLang="zh-CN"/>
              <a:t>熟悉 GPU 集群运维者优先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2926080"/>
            <a:ext cx="5029200" cy="822960"/>
          </a:xfrm>
          <a:prstGeom prst="rect">
            <a:avLst/>
          </a:prstGeom>
          <a:solidFill>
            <a:srgbClr val="121824"/>
          </a:solidFill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2999232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300" b="1">
                <a:solidFill>
                  <a:srgbClr val="00D4FF"/>
                </a:solidFill>
                <a:latin typeface="PingFang SC"/>
              </a:defRPr>
            </a:pPr>
            <a:r>
              <a:rPr a:altLang="zh-CN"/>
              <a:t>全栈工程师 ×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3273552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rPr a:altLang="zh-CN"/>
              <a:t>月薪 2 万 + 期权 0.5%~1%</a:t>
            </a:r>
            <a:br/>
            <a:r>
              <a:rPr a:altLang="zh-CN"/>
              <a:t>React + Python 后端</a:t>
            </a:r>
            <a:br/>
            <a:r>
              <a:rPr a:altLang="zh-CN"/>
              <a:t>通过开源项目贡献者筛选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3931920"/>
            <a:ext cx="5029200" cy="822960"/>
          </a:xfrm>
          <a:prstGeom prst="rect">
            <a:avLst/>
          </a:prstGeom>
          <a:solidFill>
            <a:srgbClr val="121824"/>
          </a:solidFill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4005072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300" b="1">
                <a:solidFill>
                  <a:srgbClr val="00D4FF"/>
                </a:solidFill>
                <a:latin typeface="PingFang SC"/>
              </a:defRPr>
            </a:pPr>
            <a:r>
              <a:rPr a:altLang="zh-CN"/>
              <a:t>后端/基础设施 ×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4279392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rPr a:altLang="zh-CN"/>
              <a:t>月薪 2.2 万 + 期权 0.5%~1.5%</a:t>
            </a:r>
            <a:br/>
            <a:r>
              <a:rPr a:altLang="zh-CN"/>
              <a:t>Kubernetes / Terraform / GPU 运维</a:t>
            </a:r>
            <a:br/>
            <a:r>
              <a:rPr a:altLang="zh-CN"/>
              <a:t>多云 SDK 开发经验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4937760"/>
            <a:ext cx="5029200" cy="822960"/>
          </a:xfrm>
          <a:prstGeom prst="rect">
            <a:avLst/>
          </a:prstGeom>
          <a:solidFill>
            <a:srgbClr val="121824"/>
          </a:solidFill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5010912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300" b="1">
                <a:solidFill>
                  <a:srgbClr val="00D4FF"/>
                </a:solidFill>
                <a:latin typeface="PingFang SC"/>
              </a:defRPr>
            </a:pPr>
            <a:r>
              <a:rPr a:altLang="zh-CN"/>
              <a:t>社区运营 ×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5285232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rPr a:altLang="zh-CN"/>
              <a:t>兼职转全职</a:t>
            </a:r>
            <a:br/>
            <a:r>
              <a:rPr a:altLang="zh-CN"/>
              <a:t>内容营销 + 校园大使管理</a:t>
            </a:r>
            <a:br/>
            <a:r>
              <a:rPr a:altLang="zh-CN"/>
              <a:t>GPU 免费额度作为运营杠杆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00"/>
              </a:lnSpc>
              <a:defRPr sz="1500" b="1">
                <a:solidFill>
                  <a:srgbClr val="00D4FF"/>
                </a:solidFill>
                <a:latin typeface="PingFang SC"/>
              </a:defRPr>
            </a:pPr>
            <a:r>
              <a:rPr a:altLang="zh-CN"/>
              <a:t>竞品可以复制代码，但复制不了合规架构和商务谈判能力。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defRPr sz="1000" b="0">
                <a:solidFill>
                  <a:srgbClr val="555E6B"/>
                </a:solidFill>
                <a:latin typeface="PingFang SC"/>
              </a:defRPr>
            </a:pPr>
            <a:r>
              <a:rPr a:altLang="zh-CN"/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300"/>
              </a:lnSpc>
              <a:defRPr sz="2800" b="1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融资需求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09728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300" b="0">
                <a:solidFill>
                  <a:srgbClr val="8893A0"/>
                </a:solidFill>
                <a:latin typeface="PingFang SC"/>
              </a:defRPr>
            </a:pPr>
            <a:r>
              <a:rPr a:altLang="zh-CN"/>
              <a:t>种子轮 · 用 200 万验证 PMF，12 个月做到 A 轮就绪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1064240" cy="914400"/>
          </a:xfrm>
          <a:prstGeom prst="rect">
            <a:avLst/>
          </a:prstGeom>
          <a:solidFill>
            <a:srgbClr val="121824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10332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100"/>
              </a:lnSpc>
              <a:defRPr sz="2600" b="1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200 万元  |  出让 10% ~ 15%  |  投前估值 1,133 ~ 1,800 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0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研发人力（3人 × 12月）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2606040"/>
            <a:ext cx="4718303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33104" y="256032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1">
                <a:solidFill>
                  <a:srgbClr val="00D4FF"/>
                </a:solidFill>
                <a:latin typeface="PingFang SC"/>
              </a:defRPr>
            </a:pPr>
            <a:r>
              <a:rPr a:altLang="zh-CN"/>
              <a:t>86.4 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25603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0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43%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35808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0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GPU 采购押金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3081528"/>
            <a:ext cx="2194560" cy="27432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035808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1">
                <a:solidFill>
                  <a:srgbClr val="00FF88"/>
                </a:solidFill>
                <a:latin typeface="PingFang SC"/>
              </a:defRPr>
            </a:pPr>
            <a:r>
              <a:rPr a:altLang="zh-CN"/>
              <a:t>40 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3035808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0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11296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0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市场推广 &amp; 社区运营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0" y="3557016"/>
            <a:ext cx="1316736" cy="2743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31536" y="3511296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1">
                <a:solidFill>
                  <a:srgbClr val="FFD700"/>
                </a:solidFill>
                <a:latin typeface="PingFang SC"/>
              </a:defRPr>
            </a:pPr>
            <a:r>
              <a:rPr a:altLang="zh-CN"/>
              <a:t>24 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3511296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0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12%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986783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0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基础设施（云服务）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23360" y="4032503"/>
            <a:ext cx="658368" cy="274320"/>
          </a:xfrm>
          <a:prstGeom prst="rect">
            <a:avLst/>
          </a:prstGeom>
          <a:solidFill>
            <a:srgbClr val="889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73168" y="3986783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1">
                <a:solidFill>
                  <a:srgbClr val="8893A0"/>
                </a:solidFill>
                <a:latin typeface="PingFang SC"/>
              </a:defRPr>
            </a:pPr>
            <a:r>
              <a:rPr a:altLang="zh-CN"/>
              <a:t>12 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3986783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0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462272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0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法务合规 &amp; 公司注册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23360" y="4507992"/>
            <a:ext cx="274320" cy="274320"/>
          </a:xfrm>
          <a:prstGeom prst="rect">
            <a:avLst/>
          </a:prstGeom>
          <a:solidFill>
            <a:srgbClr val="55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4462272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1">
                <a:solidFill>
                  <a:srgbClr val="555E6B"/>
                </a:solidFill>
                <a:latin typeface="PingFang SC"/>
              </a:defRPr>
            </a:pPr>
            <a:r>
              <a:rPr a:altLang="zh-CN"/>
              <a:t>5 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4462272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0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93776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0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创始人生活费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23360" y="4983480"/>
            <a:ext cx="987552" cy="274320"/>
          </a:xfrm>
          <a:prstGeom prst="rect">
            <a:avLst/>
          </a:prstGeom>
          <a:solidFill>
            <a:srgbClr val="889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02352" y="493776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1">
                <a:solidFill>
                  <a:srgbClr val="8893A0"/>
                </a:solidFill>
                <a:latin typeface="PingFang SC"/>
              </a:defRPr>
            </a:pPr>
            <a:r>
              <a:rPr a:altLang="zh-CN"/>
              <a:t>18 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493776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0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413248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0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机动预留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23360" y="5458968"/>
            <a:ext cx="822959" cy="274320"/>
          </a:xfrm>
          <a:prstGeom prst="rect">
            <a:avLst/>
          </a:prstGeom>
          <a:solidFill>
            <a:srgbClr val="55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5413248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1">
                <a:solidFill>
                  <a:srgbClr val="555E6B"/>
                </a:solidFill>
                <a:latin typeface="PingFang SC"/>
              </a:defRPr>
            </a:pPr>
            <a:r>
              <a:rPr a:altLang="zh-CN"/>
              <a:t>14.6 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5413248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0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7%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solidFill>
            <a:srgbClr val="0A3020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971032"/>
            <a:ext cx="10698480" cy="49377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900"/>
              </a:lnSpc>
              <a:defRPr sz="1600" b="1">
                <a:solidFill>
                  <a:srgbClr val="00FF88"/>
                </a:solidFill>
                <a:latin typeface="PingFang SC"/>
              </a:defRPr>
            </a:pPr>
            <a:r>
              <a:rPr a:altLang="zh-CN"/>
              <a:t>12 个月后目标：MRR 30 万  ·  盈亏平衡  ·  LTV/CAC &gt; 3  ·  A 轮就绪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defRPr sz="1000" b="0">
                <a:solidFill>
                  <a:srgbClr val="555E6B"/>
                </a:solidFill>
                <a:latin typeface="PingFang SC"/>
              </a:defRPr>
            </a:pPr>
            <a:r>
              <a:rPr a:altLang="zh-CN"/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300"/>
              </a:lnSpc>
              <a:defRPr sz="2800" b="1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退出路径与回报预期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09728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300" b="0">
                <a:solidFill>
                  <a:srgbClr val="8893A0"/>
                </a:solidFill>
                <a:latin typeface="PingFang SC"/>
              </a:defRPr>
            </a:pPr>
            <a:r>
              <a:rPr a:altLang="zh-CN"/>
              <a:t>算力赛道是 2026 年少有的退出路径清晰的领域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2651760" cy="3657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400" b="1">
                <a:solidFill>
                  <a:srgbClr val="0A0E17"/>
                </a:solidFill>
                <a:latin typeface="PingFang SC"/>
              </a:defRPr>
            </a:pPr>
            <a:r>
              <a:rPr a:altLang="zh-CN"/>
              <a:t>阿里云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2651760" cy="1280160"/>
          </a:xfrm>
          <a:prstGeom prst="rect">
            <a:avLst/>
          </a:prstGeom>
          <a:solidFill>
            <a:srgbClr val="121824"/>
          </a:solidFill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22860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200" b="0">
                <a:solidFill>
                  <a:srgbClr val="FFFFFF"/>
                </a:solidFill>
                <a:latin typeface="PingFang SC"/>
              </a:defRPr>
            </a:pPr>
            <a:r>
              <a:t>补充“个人开发者”用户层</a:t>
            </a:r>
            <a:br/>
            <a:r>
              <a:t>大厂云触达不到的长尾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463040"/>
            <a:ext cx="2651760" cy="36576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481328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400" b="1">
                <a:solidFill>
                  <a:srgbClr val="0A0E17"/>
                </a:solidFill>
                <a:latin typeface="PingFang SC"/>
              </a:defRPr>
            </a:pPr>
            <a:r>
              <a:rPr a:altLang="zh-CN"/>
              <a:t>字节 · 火山引擎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1920240"/>
            <a:ext cx="2651760" cy="1280160"/>
          </a:xfrm>
          <a:prstGeom prst="rect">
            <a:avLst/>
          </a:prstGeom>
          <a:solidFill>
            <a:srgbClr val="121824"/>
          </a:solidFill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057400"/>
            <a:ext cx="22860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200" b="0">
                <a:solidFill>
                  <a:srgbClr val="FFFFFF"/>
                </a:solidFill>
                <a:latin typeface="PingFang SC"/>
              </a:defRPr>
            </a:pPr>
            <a:r>
              <a:t>追赶阿里云/华为云</a:t>
            </a:r>
            <a:br/>
            <a:r>
              <a:t>需要一个现成的用户入口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463040"/>
            <a:ext cx="2651760" cy="3657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481328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400" b="1">
                <a:solidFill>
                  <a:srgbClr val="0A0E17"/>
                </a:solidFill>
                <a:latin typeface="PingFang SC"/>
              </a:defRPr>
            </a:pPr>
            <a:r>
              <a:rPr a:altLang="zh-CN"/>
              <a:t>华为云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920240"/>
            <a:ext cx="2651760" cy="1280160"/>
          </a:xfrm>
          <a:prstGeom prst="rect">
            <a:avLst/>
          </a:prstGeom>
          <a:solidFill>
            <a:srgbClr val="121824"/>
          </a:solidFill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057400"/>
            <a:ext cx="22860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200" b="0">
                <a:solidFill>
                  <a:srgbClr val="FFFFFF"/>
                </a:solidFill>
                <a:latin typeface="PingFang SC"/>
              </a:defRPr>
            </a:pPr>
            <a:r>
              <a:t>昇腾国产芯片正在铺量</a:t>
            </a:r>
            <a:br/>
            <a:r>
              <a:t>需要算力平台作销售渠道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0" y="1463040"/>
            <a:ext cx="2651760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1481328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400" b="1">
                <a:solidFill>
                  <a:srgbClr val="0A0E17"/>
                </a:solidFill>
                <a:latin typeface="PingFang SC"/>
              </a:defRPr>
            </a:pPr>
            <a:r>
              <a:rPr a:altLang="zh-CN"/>
              <a:t>AutoDL 等平台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26880" y="1920240"/>
            <a:ext cx="2651760" cy="1280160"/>
          </a:xfrm>
          <a:prstGeom prst="rect">
            <a:avLst/>
          </a:prstGeom>
          <a:solidFill>
            <a:srgbClr val="121824"/>
          </a:solidFill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0" y="2057400"/>
            <a:ext cx="22860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200" b="0">
                <a:solidFill>
                  <a:srgbClr val="FFFFFF"/>
                </a:solidFill>
                <a:latin typeface="PingFang SC"/>
              </a:defRPr>
            </a:pPr>
            <a:r>
              <a:t>同类合并，覆盖全价格带</a:t>
            </a:r>
            <a:br/>
            <a:r>
              <a:t>消费级 + 企业级 GPU 互补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474720"/>
            <a:ext cx="11064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defRPr sz="1500" b="1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参考估值逻辑：算力服务平台通常按 ARR 的 5 ~ 10 倍估值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886200"/>
            <a:ext cx="5029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300" b="0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第三年基准方案 ARR  3,600 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206240"/>
            <a:ext cx="5029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300" b="0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↓  × 5~10 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526280"/>
            <a:ext cx="5029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300" b="0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收购估值  1.8 亿 ~ 3.6 亿元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846320"/>
            <a:ext cx="5029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300" b="0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↓  种子轮占股 10%~15%（稀释后约 7%~10%）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166360"/>
            <a:ext cx="5029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300" b="1">
                <a:solidFill>
                  <a:srgbClr val="00FF88"/>
                </a:solidFill>
                <a:latin typeface="PingFang SC"/>
              </a:defRPr>
            </a:pPr>
            <a:r>
              <a:rPr a:altLang="zh-CN"/>
              <a:t>种子轮 200 万 → 回报约 1,260 万 ~ 3,600 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86400"/>
            <a:ext cx="5029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300" b="1">
                <a:solidFill>
                  <a:srgbClr val="00FF88"/>
                </a:solidFill>
                <a:latin typeface="PingFang SC"/>
              </a:defRPr>
            </a:pPr>
            <a:r>
              <a:rPr a:altLang="zh-CN"/>
              <a:t>→  回报倍数 6x ~ 18x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47472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defRPr sz="1500" b="1">
                <a:solidFill>
                  <a:srgbClr val="00D4FF"/>
                </a:solidFill>
                <a:latin typeface="PingFang SC"/>
              </a:defRPr>
            </a:pPr>
            <a:r>
              <a:rPr a:altLang="zh-CN"/>
              <a:t>其他退出路径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3886200"/>
            <a:ext cx="5029200" cy="1097280"/>
          </a:xfrm>
          <a:prstGeom prst="rect">
            <a:avLst/>
          </a:prstGeom>
          <a:solidFill>
            <a:srgbClr val="121824"/>
          </a:solidFill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4023360"/>
            <a:ext cx="46634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200" b="0">
                <a:solidFill>
                  <a:srgbClr val="FFFFFF"/>
                </a:solidFill>
                <a:latin typeface="PingFang SC"/>
              </a:defRPr>
            </a:pPr>
            <a:r>
              <a:t>路径 2：独立 IPO（5~8 年）</a:t>
            </a:r>
            <a:br/>
            <a:r>
              <a:t>科创板（““硬科技””定位）或港股</a:t>
            </a:r>
            <a:br/>
            <a:r>
              <a:t>参考：沐曦 GPU 已完成 IPO 辅导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0" y="5120640"/>
            <a:ext cx="5029200" cy="1097280"/>
          </a:xfrm>
          <a:prstGeom prst="rect">
            <a:avLst/>
          </a:prstGeom>
          <a:solidFill>
            <a:srgbClr val="121824"/>
          </a:solidFill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0" y="5257800"/>
            <a:ext cx="46634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200" b="0">
                <a:solidFill>
                  <a:srgbClr val="FFFFFF"/>
                </a:solidFill>
                <a:latin typeface="PingFang SC"/>
              </a:defRPr>
            </a:pPr>
            <a:r>
              <a:t>路径 3：传统 IDC / 运营商收购</a:t>
            </a:r>
            <a:br/>
            <a:r>
              <a:t>中国移动、万国数据、世纪互联</a:t>
            </a:r>
            <a:br/>
            <a:r>
              <a:t>正在从“卖机柜”向““卖算力””转型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6700"/>
              </a:lnSpc>
              <a:defRPr sz="5600" b="1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算 力 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418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400"/>
              </a:lnSpc>
              <a:defRPr sz="2000" b="0">
                <a:solidFill>
                  <a:srgbClr val="8893A0"/>
                </a:solidFill>
                <a:latin typeface="PingFang SC"/>
              </a:defRPr>
            </a:pPr>
            <a:r>
              <a:rPr a:altLang="zh-CN"/>
              <a:t>让每一个 AI 开发者，打开浏览器就能训练模型。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383280"/>
            <a:ext cx="301752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749039"/>
            <a:ext cx="9418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00"/>
              </a:lnSpc>
              <a:defRPr sz="1800" b="0">
                <a:solidFill>
                  <a:srgbClr val="FFFFFF"/>
                </a:solidFill>
                <a:latin typeface="PingFang SC"/>
              </a:defRPr>
            </a:pPr>
            <a:r>
              <a:rPr a:altLang="zh-CN"/>
              <a:t>创始人：Eric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06240"/>
            <a:ext cx="9418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00"/>
              </a:lnSpc>
              <a:defRPr sz="1400" b="0">
                <a:solidFill>
                  <a:srgbClr val="8893A0"/>
                </a:solidFill>
                <a:latin typeface="PingFang SC"/>
              </a:defRPr>
            </a:pPr>
            <a:r>
              <a:rPr a:altLang="zh-CN"/>
              <a:t>邮箱：[待补充]    微信：[待补充]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846320"/>
            <a:ext cx="9418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900"/>
              </a:lnSpc>
              <a:defRPr sz="1600" b="1">
                <a:solidFill>
                  <a:srgbClr val="00FF88"/>
                </a:solidFill>
                <a:latin typeface="PingFang SC"/>
              </a:defRPr>
            </a:pPr>
            <a:r>
              <a:rPr a:altLang="zh-CN"/>
              <a:t>种子轮 · 200 万 · 10% ~ 15%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720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