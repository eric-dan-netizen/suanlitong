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5760"/>
            <a:ext cx="164592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463040"/>
            <a:ext cx="164592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5760"/>
            <a:ext cx="6350" cy="1097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65760"/>
            <a:ext cx="6350" cy="1097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0360" y="3403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86280" y="3403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0360" y="14376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6280" y="14376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80015" y="5394960"/>
            <a:ext cx="164592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80015" y="6492240"/>
            <a:ext cx="164592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80015" y="5394960"/>
            <a:ext cx="6350" cy="1097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25935" y="5394960"/>
            <a:ext cx="6350" cy="1097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4615" y="53695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00535" y="53695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54615" y="64668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00535" y="64668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24247" y="2331720"/>
            <a:ext cx="2743200" cy="2743200"/>
          </a:xfrm>
          <a:prstGeom prst="ellipse">
            <a:avLst/>
          </a:prstGeom>
          <a:solidFill>
            <a:srgbClr val="00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81447" y="2788920"/>
            <a:ext cx="1828800" cy="1828800"/>
          </a:xfrm>
          <a:prstGeom prst="ellipse">
            <a:avLst/>
          </a:prstGeom>
          <a:solidFill>
            <a:srgbClr val="00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38647" y="3246120"/>
            <a:ext cx="914400" cy="914400"/>
          </a:xfrm>
          <a:prstGeom prst="ellipse">
            <a:avLst/>
          </a:prstGeom>
          <a:solidFill>
            <a:srgbClr val="0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00"/>
              </a:lnSpc>
              <a:defRPr sz="6400" b="1">
                <a:solidFill>
                  <a:srgbClr val="FFFFFF"/>
                </a:solidFill>
                <a:latin typeface="PingFang SC"/>
              </a:defRPr>
            </a:pPr>
            <a:r>
              <a:t>算 力 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800" b="0">
                <a:solidFill>
                  <a:srgbClr val="00D4FF"/>
                </a:solidFill>
                <a:latin typeface="PingFang SC"/>
              </a:defRPr>
            </a:pPr>
            <a:r>
              <a:t>SuanLiTong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703320"/>
            <a:ext cx="39319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2000" b="0">
                <a:solidFill>
                  <a:srgbClr val="B0B8C4"/>
                </a:solidFill>
                <a:latin typeface="PingFang SC"/>
              </a:defRPr>
            </a:pPr>
            <a:r>
              <a:t>让算力像自来水一样，扭开即用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343400"/>
            <a:ext cx="39319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600" b="0">
                <a:solidFill>
                  <a:srgbClr val="8A94A6"/>
                </a:solidFill>
                <a:latin typeface="PingFang SC"/>
              </a:defRPr>
            </a:pPr>
            <a:r>
              <a:t>GPU 算力多云聚合平台  ·  种子轮融资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51663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300" b="0">
                <a:solidFill>
                  <a:srgbClr val="4A5262"/>
                </a:solidFill>
                <a:latin typeface="PingFang SC"/>
              </a:defRPr>
            </a:pPr>
            <a:r>
              <a:t>创始人：Eric    |    2026.07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一个正在爆炸的供需缺口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2026 Q1 中国 AI 算力市场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029200" cy="3474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6B35"/>
                </a:solidFill>
                <a:latin typeface="PingFang SC"/>
              </a:defRPr>
            </a:pPr>
            <a:r>
              <a:t>需求暴涨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00"/>
              </a:lnSpc>
              <a:defRPr sz="7200" b="1">
                <a:solidFill>
                  <a:srgbClr val="FF6B35"/>
                </a:solidFill>
                <a:latin typeface="PingFang SC"/>
              </a:defRPr>
            </a:pPr>
            <a:r>
              <a:t>+417%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B0B8C4"/>
                </a:solidFill>
                <a:latin typeface="PingFang SC"/>
              </a:defRPr>
            </a:pPr>
            <a:r>
              <a:t>日均 Token 调用量超 140 万亿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两年增长超 1,000 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36576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  <a:defRPr sz="2800" b="1">
                <a:solidFill>
                  <a:srgbClr val="4A5262"/>
                </a:solidFill>
                <a:latin typeface="PingFang SC"/>
              </a:defRPr>
            </a:pPr>
            <a: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377440"/>
            <a:ext cx="5029200" cy="3474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A36BFF"/>
                </a:solidFill>
                <a:latin typeface="PingFang SC"/>
              </a:defRPr>
            </a:pPr>
            <a:r>
              <a:t>供给增速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017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00"/>
              </a:lnSpc>
              <a:defRPr sz="7200" b="1">
                <a:solidFill>
                  <a:srgbClr val="A36BFF"/>
                </a:solidFill>
                <a:latin typeface="PingFang SC"/>
              </a:defRPr>
            </a:pPr>
            <a:r>
              <a:t>+128%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B0B8C4"/>
                </a:solidFill>
                <a:latin typeface="PingFang SC"/>
              </a:defRPr>
            </a:pPr>
            <a:r>
              <a:t>H100 排期至 2028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高端 GPU 租赁率超 90%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035040"/>
            <a:ext cx="10881360" cy="502920"/>
          </a:xfrm>
          <a:prstGeom prst="roundRect">
            <a:avLst/>
          </a:prstGeom>
          <a:solidFill>
            <a:srgbClr val="1A0A0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0533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500" b="1">
                <a:solidFill>
                  <a:srgbClr val="FF6B35"/>
                </a:solidFill>
                <a:latin typeface="PingFang SC"/>
              </a:defRPr>
            </a:pPr>
            <a:r>
              <a:t>每产生 5 份算力需求，市场只能满足不到 2 份  ——  缺口还在扩大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629400"/>
            <a:ext cx="10972800" cy="18288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6053328"/>
            <a:ext cx="3474720" cy="5029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6190488"/>
            <a:ext cx="314553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FF6B35"/>
                </a:solidFill>
                <a:latin typeface="PingFang SC"/>
              </a:defRPr>
            </a:pPr>
            <a:r>
              <a:t>H100 排期至 2028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6053328"/>
            <a:ext cx="3474720" cy="5029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6190488"/>
            <a:ext cx="314553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FFD700"/>
                </a:solidFill>
                <a:latin typeface="PingFang SC"/>
              </a:defRPr>
            </a:pPr>
            <a:r>
              <a:t>阿里云 GPU 涨价 +20%~34%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6053328"/>
            <a:ext cx="3474720" cy="5029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1" y="6190488"/>
            <a:ext cx="314553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FF6B35"/>
                </a:solidFill>
                <a:latin typeface="PingFang SC"/>
              </a:defRPr>
            </a:pPr>
            <a:r>
              <a:t>上架即秒光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940万 AI 开发者的真实困境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中国 AI 开发者 940 万 | 独立开发者 129 万 | 50人以下小团队 195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474720" cy="10058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00D4FF"/>
                </a:solidFill>
                <a:latin typeface="PingFang SC"/>
              </a:defRPr>
            </a:pPr>
            <a:r>
              <a:t>940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AI 开发者总量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286000"/>
            <a:ext cx="3474720" cy="10058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00FF88"/>
                </a:solidFill>
                <a:latin typeface="PingFang SC"/>
              </a:defRPr>
            </a:pPr>
            <a:r>
              <a:t>324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算力通核心用户池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286000"/>
            <a:ext cx="3474720" cy="10058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A3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A36BFF"/>
                </a:solidFill>
                <a:latin typeface="PingFang SC"/>
              </a:defRPr>
            </a:pPr>
            <a:r>
              <a:t>195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50人以下小团队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520440" cy="12344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03320"/>
            <a:ext cx="3191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💰 买不起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95928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H100 单卡 20-30 万</a:t>
            </a:r>
            <a:br/>
            <a:r>
              <a:t>8卡服务器 200万+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520440" cy="12344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703320"/>
            <a:ext cx="3191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🔧 配不好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995928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云厂商后台面向运维</a:t>
            </a:r>
            <a:br/>
            <a:r>
              <a:t>AI 开发者需要 2 天配置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66160"/>
            <a:ext cx="3520440" cy="12344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3703320"/>
            <a:ext cx="3191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📊 价格不透明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995928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不同云厂商差价 20-40%</a:t>
            </a:r>
            <a:br/>
            <a:r>
              <a:t>闲置时段低至 3 折无人知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5806440" cy="12344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120640"/>
            <a:ext cx="5477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📅 包月绑架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413248"/>
            <a:ext cx="5477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只需 50 小时却被强制包月</a:t>
            </a:r>
            <a:br/>
            <a:r>
              <a:t>用不完的钱白花了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983480"/>
            <a:ext cx="5806440" cy="12344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5120640"/>
            <a:ext cx="5477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🔄 重复劳动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413248"/>
            <a:ext cx="5477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每次新建实例重装 CUDA</a:t>
            </a:r>
            <a:br/>
            <a:r>
              <a:t>PyTorch / Jupyter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算力通 —— 多云 GPU 聚合平台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我们不做自建机房，但我们帮你找到全网最合适、最便宜的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35204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520440" cy="1874519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700" b="1">
                <a:solidFill>
                  <a:srgbClr val="00D4FF"/>
                </a:solidFill>
                <a:latin typeface="PingFang SC"/>
              </a:defRPr>
            </a:pPr>
            <a:r>
              <a:t>多云比价引擎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实时对比阿里云/华为云/腾讯云</a:t>
            </a:r>
            <a:br/>
            <a:r>
              <a:t>自动推荐最优价格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377440"/>
            <a:ext cx="3520440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377440"/>
            <a:ext cx="3520440" cy="1874519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700" b="1">
                <a:solidFill>
                  <a:srgbClr val="00FF88"/>
                </a:solidFill>
                <a:latin typeface="PingFang SC"/>
              </a:defRPr>
            </a:pPr>
            <a:r>
              <a:t>按秒计费 + 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718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用多少付多少</a:t>
            </a:r>
            <a:br/>
            <a:r>
              <a:t>闲置时段最低 3 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520440" cy="50800"/>
          </a:xfrm>
          <a:prstGeom prst="rect">
            <a:avLst/>
          </a:prstGeom>
          <a:solidFill>
            <a:srgbClr val="A3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377440"/>
            <a:ext cx="3520440" cy="1874519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560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700" b="1">
                <a:solidFill>
                  <a:srgbClr val="A36BFF"/>
                </a:solidFill>
                <a:latin typeface="PingFang SC"/>
              </a:defRPr>
            </a:pPr>
            <a:r>
              <a:t>一键部署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718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50+ AI 框架镜像预置</a:t>
            </a:r>
            <a:br/>
            <a:r>
              <a:t>3 分钟就绪 vs 2 天配置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80560"/>
            <a:ext cx="35204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480560"/>
            <a:ext cx="3520440" cy="1874519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700" b="1">
                <a:solidFill>
                  <a:srgbClr val="FFD700"/>
                </a:solidFill>
                <a:latin typeface="PingFang SC"/>
              </a:defRPr>
            </a:pPr>
            <a:r>
              <a:t>算力券代申领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自动匹配所在地政策</a:t>
            </a:r>
            <a:br/>
            <a:r>
              <a:t>补贴最高 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480560"/>
            <a:ext cx="352044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4480560"/>
            <a:ext cx="3520440" cy="1874519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700" b="1">
                <a:solidFill>
                  <a:srgbClr val="FF8C00"/>
                </a:solidFill>
                <a:latin typeface="PingFang SC"/>
              </a:defRPr>
            </a:pPr>
            <a:r>
              <a:t>团队协作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0749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统一控制台管理所有实例</a:t>
            </a:r>
            <a:br/>
            <a:r>
              <a:t>配额管理 + 一键邀请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480560"/>
            <a:ext cx="352044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4480560"/>
            <a:ext cx="3520440" cy="1874519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700" b="1">
                <a:solidFill>
                  <a:srgbClr val="FF6B35"/>
                </a:solidFill>
                <a:latin typeface="PingFang SC"/>
              </a:defRPr>
            </a:pPr>
            <a:r>
              <a:t>用量仪表盘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0749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GPU 小时 / 消费 / 训练时长</a:t>
            </a:r>
            <a:br/>
            <a:r>
              <a:t>一目了然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为什么是现在？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四个不可复制的时机窗口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05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260604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2606040" cy="32918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2200" b="1">
                <a:solidFill>
                  <a:srgbClr val="FF6B35"/>
                </a:solidFill>
                <a:latin typeface="PingFang SC"/>
              </a:defRPr>
            </a:pPr>
            <a:r>
              <a:t>供需缺口最大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22402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2026 Q1 需求 +417% vs 供给 +128%</a:t>
            </a:r>
            <a:br/>
            <a:r>
              <a:t>缺口达到历史峰值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46320"/>
            <a:ext cx="2240280" cy="502920"/>
          </a:xfrm>
          <a:prstGeom prst="round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646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FF88"/>
                </a:solidFill>
                <a:latin typeface="PingFang SC"/>
              </a:defRPr>
            </a:pPr>
            <a:r>
              <a:t>预计持续到 2028 年</a:t>
            </a:r>
            <a:br/>
            <a:r>
              <a:t>国产 GPU 量产收窄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2377440"/>
            <a:ext cx="26060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39" y="2377440"/>
            <a:ext cx="2606040" cy="32918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19" y="25603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2200" b="1">
                <a:solidFill>
                  <a:srgbClr val="FFD700"/>
                </a:solidFill>
                <a:latin typeface="PingFang SC"/>
              </a:defRPr>
            </a:pPr>
            <a:r>
              <a:t>政策高度确定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19" y="3246120"/>
            <a:ext cx="22402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19" y="33832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"十五五"首次将算力网列为</a:t>
            </a:r>
            <a:br/>
            <a:r>
              <a:t>109 项重大工程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19" y="4846320"/>
            <a:ext cx="2240280" cy="502920"/>
          </a:xfrm>
          <a:prstGeom prst="round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48646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FF88"/>
                </a:solidFill>
                <a:latin typeface="PingFang SC"/>
              </a:defRPr>
            </a:pPr>
            <a:r>
              <a:t>政策红利至少持续</a:t>
            </a:r>
            <a:br/>
            <a:r>
              <a:t>一个五年规划周期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2606040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377440"/>
            <a:ext cx="2606040" cy="32918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5603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2200" b="1">
                <a:solidFill>
                  <a:srgbClr val="00FF88"/>
                </a:solidFill>
                <a:latin typeface="PingFang SC"/>
              </a:defRPr>
            </a:pPr>
            <a:r>
              <a:t>开发者"超级个体"化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246120"/>
            <a:ext cx="22402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3832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Cursor 等 AI 工具让个人</a:t>
            </a:r>
            <a:br/>
            <a:r>
              <a:t>能干一个团队的活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846320"/>
            <a:ext cx="2240280" cy="502920"/>
          </a:xfrm>
          <a:prstGeom prst="round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8646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FF88"/>
                </a:solidFill>
                <a:latin typeface="PingFang SC"/>
              </a:defRPr>
            </a:pPr>
            <a:r>
              <a:t>催生 129 万独立开发者</a:t>
            </a:r>
            <a:br/>
            <a:r>
              <a:t>趋势刚刚开始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59" y="2377440"/>
            <a:ext cx="26060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159" y="2377440"/>
            <a:ext cx="2606040" cy="32918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39" y="25603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2200" b="1">
                <a:solidFill>
                  <a:srgbClr val="00D4FF"/>
                </a:solidFill>
                <a:latin typeface="PingFang SC"/>
              </a:defRPr>
            </a:pPr>
            <a:r>
              <a:t>资本市场关注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39" y="3246120"/>
            <a:ext cx="22402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39" y="338328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算力赛道融资热度不降</a:t>
            </a:r>
            <a:br/>
            <a:r>
              <a:t>密瓜智能连续完成两轮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39" y="4846320"/>
            <a:ext cx="2240280" cy="502920"/>
          </a:xfrm>
          <a:prstGeom prst="round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199" y="486460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00FF88"/>
                </a:solidFill>
                <a:latin typeface="PingFang SC"/>
              </a:defRPr>
            </a:pPr>
            <a:r>
              <a:t>风口期通常</a:t>
            </a:r>
            <a:br/>
            <a:r>
              <a:t>2-3 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943600"/>
            <a:ext cx="9418320" cy="635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8A94A6"/>
                </a:solidFill>
                <a:latin typeface="PingFang SC"/>
              </a:defRPr>
            </a:pPr>
            <a:r>
              <a:t>"我们不需要发明什么，只需要把已经存在的供给侧和需求侧用更好的产品体验连接起来。"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市场空间 —— 自下而上的真实计算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不从 8,351 亿往下拍，从 940 万开发者往上算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4047" y="2286000"/>
            <a:ext cx="5943600" cy="822960"/>
          </a:xfrm>
          <a:prstGeom prst="roundRect">
            <a:avLst/>
          </a:prstGeom>
          <a:solidFill>
            <a:srgbClr val="0F172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8367" y="23591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TAM  总可触达市场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8367" y="26700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194 万人 × 5,000 元/年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70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100" b="1">
                <a:solidFill>
                  <a:srgbClr val="00D4FF"/>
                </a:solidFill>
                <a:latin typeface="PingFang SC"/>
              </a:defRPr>
            </a:pPr>
            <a:r>
              <a:t>≈ 97 亿元/年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9847" y="2560320"/>
            <a:ext cx="4572000" cy="822960"/>
          </a:xfrm>
          <a:prstGeom prst="roundRect">
            <a:avLst/>
          </a:prstGeom>
          <a:solidFill>
            <a:srgbClr val="0F1724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4167" y="26334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SAM  可服务市场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4167" y="2944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聚焦创业公司与独立开发者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2967" y="2944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≈ 50 亿元/年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5647" y="2834640"/>
            <a:ext cx="3200400" cy="822960"/>
          </a:xfrm>
          <a:prstGeom prst="roundRect">
            <a:avLst/>
          </a:prstGeom>
          <a:solidFill>
            <a:srgbClr val="0F172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9967" y="29077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FFD700"/>
                </a:solidFill>
                <a:latin typeface="PingFang SC"/>
              </a:defRPr>
            </a:pPr>
            <a:r>
              <a:t>SOM  可获取市场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9967" y="32186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3 年后市场份额 0.5%~2%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100" b="1">
                <a:solidFill>
                  <a:srgbClr val="FFD700"/>
                </a:solidFill>
                <a:latin typeface="PingFang SC"/>
              </a:defRPr>
            </a:pPr>
            <a:r>
              <a:t>2,500万 ~ 1 亿/年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全球 GPU 算力租赁市场持续高增长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2560320" cy="10972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约 61 亿美元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4A5262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4251960"/>
            <a:ext cx="2560320" cy="10972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约 74 亿美元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t>+21%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51960"/>
            <a:ext cx="2560320" cy="10972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2030E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约 200 亿美元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t>CAGR ~18%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251960"/>
            <a:ext cx="2560320" cy="10972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2032E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约 282 亿美元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00D4FF"/>
                </a:solidFill>
                <a:latin typeface="PingFang SC"/>
              </a:defRPr>
            </a:pPr>
            <a:r>
              <a:t>CAGR 21.4%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623560"/>
            <a:ext cx="10881360" cy="548640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6509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中国市场在全球 GPU 算力租赁占比 25%~30%，增速显著高于全球平均水平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309360"/>
            <a:ext cx="1088136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数据来源：中商情报网、辰宇信息、Verified Market Research、格隆汇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三阶段发展战略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先代理验证 PMF → 混合云双轨 → 算力资产运营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07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35204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520440" cy="3840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t>第一阶段  ·  0-12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纯代理模式，零资产启动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54680"/>
            <a:ext cx="31546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多云聚合：阿里云 → 华为云 → 腾讯云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云厂商返佣 8%-18% + 平台差价 10%-20%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综合毛利率 10%-25%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核心壁垒：多云调度 + 开发者体验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A94A6"/>
                </a:solidFill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A94A6"/>
                </a:solidFill>
                <a:latin typeface="PingFang SC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4434840" y="2377440"/>
            <a:ext cx="3520440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2377440"/>
            <a:ext cx="3520440" cy="3840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第二阶段  ·  12-36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34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混合云，双轨并行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3154680"/>
            <a:ext cx="31546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2918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首批 8-16 张 H100 自有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6118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部署西部枢纽（贵州/宁夏）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319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低电价 0.3元/度 + 算力券补贴 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519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综合毛利率 25%-45%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572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A94A6"/>
                </a:solidFill>
                <a:latin typeface="PingFang SC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617720" y="4892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A94A6"/>
                </a:solidFill>
                <a:latin typeface="PingFang SC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8229600" y="2377440"/>
            <a:ext cx="3520440" cy="50800"/>
          </a:xfrm>
          <a:prstGeom prst="rect">
            <a:avLst/>
          </a:prstGeom>
          <a:solidFill>
            <a:srgbClr val="A3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2377440"/>
            <a:ext cx="3520440" cy="3840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514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A36BFF"/>
                </a:solidFill>
                <a:latin typeface="PingFang SC"/>
              </a:defRPr>
            </a:pPr>
            <a:r>
              <a:t>第三阶段  ·  36 月+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8346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8A94A6"/>
                </a:solidFill>
                <a:latin typeface="PingFang SC"/>
              </a:defRPr>
            </a:pPr>
            <a:r>
              <a:t>算力资产运营平台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154680"/>
            <a:ext cx="31546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2918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算力期货：锁定未来 GPU 时段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61188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调度 SaaS 输出给中型 IDC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93192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C2C 闲置算力撮合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2519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综合毛利率 40%-55%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7200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A94A6"/>
                </a:solidFill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8412480" y="4892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8A94A6"/>
                </a:solidFill>
                <a:latin typeface="PingFang SC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416052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2400" b="0">
                <a:solidFill>
                  <a:srgbClr val="00D4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2400" b="0">
                <a:solidFill>
                  <a:srgbClr val="00D4FF"/>
                </a:solidFill>
                <a:latin typeface="PingFang SC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盈利模型与单位经济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即使最保守假设下，LTV/CAC = 16:1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定价示例 —— A100 (80GB)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5303520" cy="411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阿里云官方包月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FF6B35"/>
                </a:solidFill>
                <a:latin typeface="PingFang SC"/>
              </a:defRPr>
            </a:pPr>
            <a:r>
              <a:t>21,000 元/月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花了钱但大部分时间没用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5303520" cy="411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阿里云按量付费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FFD700"/>
                </a:solidFill>
                <a:latin typeface="PingFang SC"/>
              </a:defRPr>
            </a:pPr>
            <a:r>
              <a:t>18 元/小时 = 12,960 元/月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比包月便宜但仍按小时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303520" cy="411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算力通 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00D4FF"/>
                </a:solidFill>
                <a:latin typeface="PingFang SC"/>
              </a:defRPr>
            </a:pPr>
            <a:r>
              <a:t>20 元/小时 按秒计费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749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用 60 小时只需 1,200 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5303520" cy="41148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算力通 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6 元/小时 最低 3 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闲置 GPU 捡漏价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单位经济模型 (保守假设)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697480"/>
            <a:ext cx="5303520" cy="347472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7340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ARPU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340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200" b="1">
                <a:solidFill>
                  <a:srgbClr val="8A94A6"/>
                </a:solidFill>
                <a:latin typeface="PingFang SC"/>
              </a:defRPr>
            </a:pPr>
            <a:r>
              <a:t>600 元/月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108960"/>
            <a:ext cx="5303520" cy="347472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毛利率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455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200" b="1">
                <a:solidFill>
                  <a:srgbClr val="8A94A6"/>
                </a:solidFill>
                <a:latin typeface="PingFang SC"/>
              </a:defRPr>
            </a:pPr>
            <a:r>
              <a:t>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20440"/>
            <a:ext cx="5303520" cy="347472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557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557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200" b="1">
                <a:solidFill>
                  <a:srgbClr val="8A94A6"/>
                </a:solidFill>
                <a:latin typeface="PingFang SC"/>
              </a:defRPr>
            </a:pPr>
            <a:r>
              <a:t>150 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931920"/>
            <a:ext cx="5303520" cy="347472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月流失率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968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200" b="1">
                <a:solidFill>
                  <a:srgbClr val="8A94A6"/>
                </a:solidFill>
                <a:latin typeface="PingFang SC"/>
              </a:defRPr>
            </a:pPr>
            <a:r>
              <a:t>5% → 生命周期 20 个月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343400"/>
            <a:ext cx="5303520" cy="347472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799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LTV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3799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600 × 20% × 20 = 2,400 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754880"/>
            <a:ext cx="5303520" cy="347472"/>
          </a:xfrm>
          <a:prstGeom prst="round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LTV : CAC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7914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2,400 : 150 = 16 :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892040"/>
            <a:ext cx="10881360" cy="502920"/>
          </a:xfrm>
          <a:prstGeom prst="roundRect">
            <a:avLst/>
          </a:prstGeom>
          <a:solidFill>
            <a:srgbClr val="0A181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9103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t>✅ 回本周期 1.25 个月  |  SaaS 健康基准 LTV/CAC ≥ 3:1 → 算力通 16:1 远超标准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第一阶段收入结构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43600"/>
            <a:ext cx="3474720" cy="68580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807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云厂商返佣 8%-18%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6373368"/>
            <a:ext cx="3145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类似携程帮酒店卖房，酒店给佣金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5943600"/>
            <a:ext cx="3474720" cy="68580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60807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平台差价 10%-20%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6373368"/>
            <a:ext cx="3145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在底价上浮换取增值服务，纯毛利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8159" y="5943600"/>
            <a:ext cx="3474720" cy="68580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1" y="60807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FFD700"/>
                </a:solidFill>
                <a:latin typeface="PingFang SC"/>
              </a:defRPr>
            </a:pPr>
            <a:r>
              <a:t>增值服务 80%+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1" y="6373368"/>
            <a:ext cx="3145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算力券代申领(免费获客) / 代运维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三年财务预测 · 基准方案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种子轮 200 万 → 第三年 ARR 3,600 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09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5204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3520440" cy="3474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2000" b="1">
                <a:solidFill>
                  <a:srgbClr val="00D4FF"/>
                </a:solidFill>
                <a:latin typeface="PingFang SC"/>
              </a:defRPr>
            </a:pPr>
            <a:r>
              <a:t>第 1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A94A6"/>
                </a:solidFill>
                <a:latin typeface="PingFang SC"/>
              </a:defRPr>
            </a:pPr>
            <a:r>
              <a:t>0-12 月 · 纯代理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17520"/>
            <a:ext cx="31546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付费用户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546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500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MRR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30 万元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毛利率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605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月净利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663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1.5 万 (M10 盈亏平衡)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286000"/>
            <a:ext cx="3520440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4840" y="2286000"/>
            <a:ext cx="3520440" cy="3474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4231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2000" b="1">
                <a:solidFill>
                  <a:srgbClr val="00FF88"/>
                </a:solidFill>
                <a:latin typeface="PingFang SC"/>
              </a:defRPr>
            </a:pPr>
            <a:r>
              <a:t>第 2 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4320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A94A6"/>
                </a:solidFill>
                <a:latin typeface="PingFang SC"/>
              </a:defRPr>
            </a:pPr>
            <a:r>
              <a:t>12-24 月 · 混合云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017520"/>
            <a:ext cx="31546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付费用户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1546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1,500 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MRR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57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120 万元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毛利率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605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月净利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663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27 万元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286000"/>
            <a:ext cx="3520440" cy="50800"/>
          </a:xfrm>
          <a:prstGeom prst="rect">
            <a:avLst/>
          </a:prstGeom>
          <a:solidFill>
            <a:srgbClr val="A3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0" y="2286000"/>
            <a:ext cx="3520440" cy="3474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4231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2000" b="1">
                <a:solidFill>
                  <a:srgbClr val="A36BFF"/>
                </a:solidFill>
                <a:latin typeface="PingFang SC"/>
              </a:defRPr>
            </a:pPr>
            <a:r>
              <a:t>第 3 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743200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8A94A6"/>
                </a:solidFill>
                <a:latin typeface="PingFang SC"/>
              </a:defRPr>
            </a:pPr>
            <a:r>
              <a:t>24-36 月 · 规模化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017520"/>
            <a:ext cx="3154680" cy="63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付费用户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1546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3,000 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MRR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657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300 万元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毛利率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41605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42%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ARR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46634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3,600 万元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43600"/>
            <a:ext cx="10881360" cy="594360"/>
          </a:xfrm>
          <a:prstGeom prst="roundRect">
            <a:avLst/>
          </a:prstGeom>
          <a:solidFill>
            <a:srgbClr val="0F1724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9618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第三年 ARR 3,600 万  ·  按 5-10x 收购估值 = 1.8 ~ 3.6 亿  ·  种子轮 200 万 → 回报 9-27 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竞争格局 —— 结构性空白是我们的机会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在 AutoDL（消费级）和阿里云 PAI（企业级）之间的空白地带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市场定位图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5303520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2700" cy="22860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低价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高价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简单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4572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复杂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017520"/>
            <a:ext cx="152400" cy="152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8A94A6"/>
                </a:solidFill>
                <a:latin typeface="PingFang SC"/>
              </a:defRPr>
            </a:pPr>
            <a:r>
              <a:t>AutoDL</a:t>
            </a:r>
            <a:br/>
            <a:r>
              <a:t>4090 为主</a:t>
            </a:r>
            <a:br/>
            <a:r>
              <a:t>学生/个人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2834640"/>
            <a:ext cx="152400" cy="1524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697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00FF88"/>
                </a:solidFill>
                <a:latin typeface="PingFang SC"/>
              </a:defRPr>
            </a:pPr>
            <a:r>
              <a:t>算力通 ⭐</a:t>
            </a:r>
            <a:br/>
            <a:r>
              <a:t>A100/H100</a:t>
            </a:r>
            <a:br/>
            <a:r>
              <a:t>按秒计费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389120"/>
            <a:ext cx="152400" cy="152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251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8A94A6"/>
                </a:solidFill>
                <a:latin typeface="PingFang SC"/>
              </a:defRPr>
            </a:pPr>
            <a:r>
              <a:t>阿里云 PAI</a:t>
            </a:r>
            <a:br/>
            <a:r>
              <a:t>企业级</a:t>
            </a:r>
            <a:br/>
            <a:r>
              <a:t>包月制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3200400"/>
            <a:ext cx="152400" cy="152400"/>
          </a:xfrm>
          <a:prstGeom prst="ellipse">
            <a:avLst/>
          </a:prstGeom>
          <a:solidFill>
            <a:srgbClr val="A3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63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8A94A6"/>
                </a:solidFill>
                <a:latin typeface="PingFang SC"/>
              </a:defRPr>
            </a:pPr>
            <a:r>
              <a:t>恒源云</a:t>
            </a:r>
            <a:br/>
            <a:r>
              <a:t>3090/4090</a:t>
            </a:r>
            <a:br/>
            <a:r>
              <a:t>学生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0" y="4114800"/>
            <a:ext cx="152400" cy="15240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977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>
                <a:solidFill>
                  <a:srgbClr val="8A94A6"/>
                </a:solidFill>
                <a:latin typeface="PingFang SC"/>
              </a:defRPr>
            </a:pPr>
            <a:r>
              <a:t>密瓜智能</a:t>
            </a:r>
            <a:br/>
            <a:r>
              <a:t>纯调度</a:t>
            </a:r>
            <a:br/>
            <a:r>
              <a:t>大B客户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核心维度对比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D4FF"/>
                </a:solidFill>
                <a:latin typeface="PingFang SC"/>
              </a:defRPr>
            </a:pPr>
            <a:r>
              <a:t>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D4FF"/>
                </a:solidFill>
                <a:latin typeface="PingFang SC"/>
              </a:defRPr>
            </a:pPr>
            <a:r>
              <a:t>算力通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D4FF"/>
                </a:solidFill>
                <a:latin typeface="PingFang SC"/>
              </a:defRPr>
            </a:pPr>
            <a:r>
              <a:t>AutoDL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D4FF"/>
                </a:solidFill>
                <a:latin typeface="PingFang SC"/>
              </a:defRPr>
            </a:pPr>
            <a:r>
              <a:t>阿里云PAI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971800"/>
            <a:ext cx="5303520" cy="127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063240"/>
            <a:ext cx="5303520" cy="34747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099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GPU 类型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099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A100/H100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099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4090/3090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9" y="3099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A100/H100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429000"/>
            <a:ext cx="5303520" cy="347472"/>
          </a:xfrm>
          <a:prstGeom prst="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4655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计费方式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4655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FF88"/>
                </a:solidFill>
                <a:latin typeface="PingFang SC"/>
              </a:defRPr>
            </a:pPr>
            <a:r>
              <a:t>按秒 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4655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按小时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59" y="34655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包月/按小时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794760"/>
            <a:ext cx="5303520" cy="34747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8313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A100 单价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8313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6-20 元/时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8313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极少有此卡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59" y="38313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18-29 元/时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60520"/>
            <a:ext cx="5303520" cy="347472"/>
          </a:xfrm>
          <a:prstGeom prst="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197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多云比价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197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FF88"/>
                </a:solidFill>
                <a:latin typeface="PingFang SC"/>
              </a:defRPr>
            </a:pPr>
            <a: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197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59" y="4197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526280"/>
            <a:ext cx="5303520" cy="34747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562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一键部署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562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FF88"/>
                </a:solidFill>
                <a:latin typeface="PingFang SC"/>
              </a:defRPr>
            </a:pPr>
            <a:r>
              <a:t>✅ 50+镜像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562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⚠️ 基础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4562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892040"/>
            <a:ext cx="5303520" cy="347472"/>
          </a:xfrm>
          <a:prstGeom prst="rect">
            <a:avLst/>
          </a:prstGeom>
          <a:solidFill>
            <a:srgbClr val="0F1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928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算力券代申领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928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1">
                <a:solidFill>
                  <a:srgbClr val="00FF88"/>
                </a:solidFill>
                <a:latin typeface="PingFang SC"/>
              </a:defRPr>
            </a:pPr>
            <a:r>
              <a:t>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4928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59" y="4928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257800"/>
            <a:ext cx="5303520" cy="34747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294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目标用户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5294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创业/专业开发者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5294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学生/爱好者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59" y="5294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政企/大公司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Go-to-Market 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PLG（产品驱动增长）为主，社区驱动冷启动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11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35204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520440" cy="19202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开源 CLI 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slt compare a100</a:t>
            </a:r>
            <a:br/>
            <a:r>
              <a:t>终端比价，开发者最爱</a:t>
            </a:r>
            <a:br/>
            <a:r>
              <a:t>GitHub Star 500+ → 10-15% 转化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3154680" cy="292608"/>
          </a:xfrm>
          <a:prstGeom prst="round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00FF88"/>
                </a:solidFill>
                <a:latin typeface="PingFang SC"/>
              </a:defRPr>
            </a:pPr>
            <a:r>
              <a:t>CAC ≈ 0 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377440"/>
            <a:ext cx="3520440" cy="381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377440"/>
            <a:ext cx="3520440" cy="19202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AI 开发者社区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知乎/CSDN/掘金</a:t>
            </a:r>
            <a:br/>
            <a:r>
              <a:t>2篇/月技术教程 + GPU实测</a:t>
            </a:r>
            <a:br/>
            <a:r>
              <a:t>精准触达 AI 开发者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86200"/>
            <a:ext cx="3154680" cy="292608"/>
          </a:xfrm>
          <a:prstGeom prst="round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8862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00FF88"/>
                </a:solidFill>
                <a:latin typeface="PingFang SC"/>
              </a:defRPr>
            </a:pPr>
            <a:r>
              <a:t>CAC ≈ 0 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377440"/>
            <a:ext cx="3520440" cy="38100"/>
          </a:xfrm>
          <a:prstGeom prst="rect">
            <a:avLst/>
          </a:prstGeom>
          <a:solidFill>
            <a:srgbClr val="A3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2377440"/>
            <a:ext cx="3520440" cy="19202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5146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A36BFF"/>
                </a:solidFill>
                <a:latin typeface="PingFang SC"/>
              </a:defRPr>
            </a:pPr>
            <a:r>
              <a:t>算力券获客漏斗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803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搜索引擎 → 政策匹配页</a:t>
            </a:r>
            <a:br/>
            <a:r>
              <a:t>代申领 = 免费服务换注册</a:t>
            </a:r>
            <a:br/>
            <a:r>
              <a:t>用户粘性极高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886200"/>
            <a:ext cx="3154680" cy="292608"/>
          </a:xfrm>
          <a:prstGeom prst="round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8862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00FF88"/>
                </a:solidFill>
                <a:latin typeface="PingFang SC"/>
              </a:defRPr>
            </a:pPr>
            <a:r>
              <a:t>CAC ≈ 0 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352044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526280"/>
            <a:ext cx="3520440" cy="19202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FFD700"/>
                </a:solidFill>
                <a:latin typeface="PingFang SC"/>
              </a:defRPr>
            </a:pPr>
            <a:r>
              <a:t>校园大使计划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0292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20所 AI 强校 × 1大使</a:t>
            </a:r>
            <a:br/>
            <a:r>
              <a:t>每大使月均带来 5 付费用户</a:t>
            </a:r>
            <a:br/>
            <a:r>
              <a:t>覆盖 985/211 核心实验室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6035040"/>
            <a:ext cx="3154680" cy="292608"/>
          </a:xfrm>
          <a:prstGeom prst="round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0350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00FF88"/>
                </a:solidFill>
                <a:latin typeface="PingFang SC"/>
              </a:defRPr>
            </a:pPr>
            <a:r>
              <a:t>CAC ≈ 100 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526280"/>
            <a:ext cx="352044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34840" y="4526280"/>
            <a:ext cx="3520440" cy="19202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FF8C00"/>
                </a:solidFill>
                <a:latin typeface="PingFang SC"/>
              </a:defRPr>
            </a:pPr>
            <a:r>
              <a:t>创始人 50 人计划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0292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每周 5 个目标用户深度聊</a:t>
            </a:r>
            <a:br/>
            <a:r>
              <a:t>CTO/KOL/教授/黑客松</a:t>
            </a:r>
            <a:br/>
            <a:r>
              <a:t>M0-M2 核心内测用户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6035040"/>
            <a:ext cx="3154680" cy="292608"/>
          </a:xfrm>
          <a:prstGeom prst="round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60350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00FF88"/>
                </a:solidFill>
                <a:latin typeface="PingFang SC"/>
              </a:defRPr>
            </a:pPr>
            <a:r>
              <a:t>CAC = 时间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526280"/>
            <a:ext cx="352044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4526280"/>
            <a:ext cx="3520440" cy="192024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6634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FF6B35"/>
                </a:solidFill>
                <a:latin typeface="PingFang SC"/>
              </a:defRPr>
            </a:pPr>
            <a:r>
              <a:t>付费投放 (验证后)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0292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知乎 CPC / AI 社区</a:t>
            </a:r>
            <a:br/>
            <a:r>
              <a:t>月度预算 4,500 元</a:t>
            </a:r>
            <a:br/>
            <a:r>
              <a:t>免费渠道验证后再放大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6035040"/>
            <a:ext cx="3154680" cy="292608"/>
          </a:xfrm>
          <a:prstGeom prst="roundRect">
            <a:avLst/>
          </a:prstGeom>
          <a:solidFill>
            <a:srgbClr val="0A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60350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1">
                <a:solidFill>
                  <a:srgbClr val="00FF88"/>
                </a:solidFill>
                <a:latin typeface="PingFang SC"/>
              </a:defRPr>
            </a:pPr>
            <a:r>
              <a:t>CAC ≈ 150-200 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里程碑与融资节奏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从种子轮到 A 轮：18 个月验证 PMF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12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291840"/>
            <a:ext cx="9418320" cy="254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3246120"/>
            <a:ext cx="127000" cy="127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2026 Q3-Q4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种子轮到账</a:t>
            </a:r>
            <a:br/>
            <a:r>
              <a:t>MVP 开发</a:t>
            </a:r>
          </a:p>
        </p:txBody>
      </p:sp>
      <p:sp>
        <p:nvSpPr>
          <p:cNvPr id="12" name="Oval 11"/>
          <p:cNvSpPr/>
          <p:nvPr/>
        </p:nvSpPr>
        <p:spPr>
          <a:xfrm>
            <a:off x="3931920" y="3246120"/>
            <a:ext cx="127000" cy="1270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2027 Q1-Q2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市场验证</a:t>
            </a:r>
            <a:br/>
            <a:r>
              <a:t>MRR 30万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3246120"/>
            <a:ext cx="127000" cy="127000"/>
          </a:xfrm>
          <a:prstGeom prst="ellipse">
            <a:avLst/>
          </a:prstGeom>
          <a:solidFill>
            <a:srgbClr val="A3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200" b="1">
                <a:solidFill>
                  <a:srgbClr val="A36BFF"/>
                </a:solidFill>
                <a:latin typeface="PingFang SC"/>
              </a:defRPr>
            </a:pPr>
            <a:r>
              <a:t>2027 Q3-Q4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A轮融资</a:t>
            </a:r>
            <a:br/>
            <a:r>
              <a:t>自有GPU</a:t>
            </a:r>
          </a:p>
        </p:txBody>
      </p:sp>
      <p:sp>
        <p:nvSpPr>
          <p:cNvPr id="18" name="Oval 17"/>
          <p:cNvSpPr/>
          <p:nvPr/>
        </p:nvSpPr>
        <p:spPr>
          <a:xfrm>
            <a:off x="9052559" y="3246120"/>
            <a:ext cx="127000" cy="127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200" b="1">
                <a:solidFill>
                  <a:srgbClr val="FF6B35"/>
                </a:solidFill>
                <a:latin typeface="PingFang SC"/>
              </a:defRPr>
            </a:pPr>
            <a:r>
              <a:t>2028 H2+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429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规模化</a:t>
            </a:r>
            <a:br/>
            <a:r>
              <a:t>算力期货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A 轮触发条件（满足任意两项即可启动）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5349240" cy="658368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64515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t>条件 A：收入规模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19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MRR ≥ 50 万元，连续 3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72000"/>
            <a:ext cx="5349240" cy="658368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64515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条件 B：增长质量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919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MRR 月环比增长 ≥ 15%，连续 6 个月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49240"/>
            <a:ext cx="5349240" cy="658368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2239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FFD700"/>
                </a:solidFill>
                <a:latin typeface="PingFang SC"/>
              </a:defRPr>
            </a:pPr>
            <a:r>
              <a:t>条件 C：单位经济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967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LTV/CAC ≥ 5:1 + 月流失率 ≤ 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349240"/>
            <a:ext cx="5349240" cy="658368"/>
          </a:xfrm>
          <a:prstGeom prst="roundRect">
            <a:avLst/>
          </a:prstGeom>
          <a:solidFill>
            <a:srgbClr val="0F1724"/>
          </a:solidFill>
          <a:ln w="12700">
            <a:solidFill>
              <a:srgbClr val="A3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42239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300" b="1">
                <a:solidFill>
                  <a:srgbClr val="A36BFF"/>
                </a:solidFill>
                <a:latin typeface="PingFang SC"/>
              </a:defRPr>
            </a:pPr>
            <a:r>
              <a:t>条件 D：自有 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6967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至少 4 张自有 GPU 运营 3 个月，毛利率 ≥ 40%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团队 —— 复合背景的稀缺组合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律师 + 全栈工程师 + 金融交易结构设计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6400800" cy="3474720"/>
          </a:xfrm>
          <a:prstGeom prst="roundRect">
            <a:avLst/>
          </a:prstGeom>
          <a:solidFill>
            <a:srgbClr val="0F172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6400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Eric  ·  创始人 &amp;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00D4FF"/>
                </a:solidFill>
                <a:latin typeface="PingFang SC"/>
              </a:defRPr>
            </a:pPr>
            <a:r>
              <a:t>律师 + 全栈工程师 + 金融交易结构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⚖️ 法律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公司法/合同法/ICP合规</a:t>
            </a:r>
            <a:br/>
            <a:r>
              <a:t>个人信息保护法/增值电信许可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💻 全栈工程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74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独立开发 garment-crm-saas</a:t>
            </a:r>
            <a:br/>
            <a:r>
              <a:t>React + Python +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💰 金融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7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算力期货/远期合约定价</a:t>
            </a:r>
            <a:br/>
            <a:r>
              <a:t>算力资产证券化设计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976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🤝 商务谈判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2627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云厂商代理协议</a:t>
            </a:r>
            <a:br/>
            <a:r>
              <a:t>投资人条款/政府关系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种子轮拟招募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97480"/>
            <a:ext cx="4114800" cy="566928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2834640"/>
            <a:ext cx="3785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2x 全栈工程师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3127248"/>
            <a:ext cx="37856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M1-M2 到岗    |    月薪 2万 + 期权 0.5-1%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383280"/>
            <a:ext cx="4114800" cy="566928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3520440"/>
            <a:ext cx="3785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1x 后端/基础设施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3813048"/>
            <a:ext cx="37856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M1-M2 到岗    |    月薪 2.2万 + 期权 0.5-1.5%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069080"/>
            <a:ext cx="4114800" cy="566928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4206240"/>
            <a:ext cx="3785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1x 技术合伙人/CTO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4498848"/>
            <a:ext cx="37856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M6 前内部晋升    |    月薪 2.5万 + 股权 5-8%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754880"/>
            <a:ext cx="4114800" cy="566928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1" y="4892040"/>
            <a:ext cx="3785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1x 社区运营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5184648"/>
            <a:ext cx="37856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900" b="0">
                <a:solidFill>
                  <a:srgbClr val="B0B8C4"/>
                </a:solidFill>
                <a:latin typeface="PingFang SC"/>
              </a:defRPr>
            </a:pPr>
            <a:r>
              <a:t>M3兼职 → M6全职    |    月薪 1.2万 + 期权 0.3-0.5%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440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顾问方向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7607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云计算/AI 基础设施专家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6035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开发者社区/KOL 增长顾问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3093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1000" b="0">
                <a:solidFill>
                  <a:srgbClr val="B0B8C4"/>
                </a:solidFill>
                <a:latin typeface="PingFang SC"/>
              </a:defRPr>
            </a:pPr>
            <a:r>
              <a:t>▸ 法务/合规资深律师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943600"/>
            <a:ext cx="10881360" cy="59436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893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开源策略：CLI 工具 + SDK 开源(MIT) → 获客漏斗</a:t>
            </a:r>
            <a:br/>
            <a:r>
              <a:t>核心闭源：多云适配引擎 + 按秒计费引擎 + 比价算法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5300"/>
            <a:ext cx="12191695" cy="1270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退出路径与回报预期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500" b="0">
                <a:solidFill>
                  <a:srgbClr val="8A94A6"/>
                </a:solidFill>
                <a:latin typeface="PingFang SC"/>
              </a:defRPr>
            </a:pPr>
            <a:r>
              <a:t>算力赛道是 2026 年少有的退出路径清晰的领域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14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260604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60A12"/>
                </a:solidFill>
                <a:latin typeface="PingFang SC"/>
              </a:defRPr>
            </a:pPr>
            <a:r>
              <a:t>阿里云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2606040" cy="1188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971800"/>
            <a:ext cx="2276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补充〈个人开发者〉用户层</a:t>
            </a:r>
            <a:br/>
            <a:r>
              <a:t>大厂触达不到的长尾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2377440"/>
            <a:ext cx="2606040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3957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60A12"/>
                </a:solidFill>
                <a:latin typeface="PingFang SC"/>
              </a:defRPr>
            </a:pPr>
            <a:r>
              <a:t>字节 · 火山引擎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2834640"/>
            <a:ext cx="2606040" cy="1188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1" y="2971800"/>
            <a:ext cx="2276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追赶阿里云/华为云</a:t>
            </a:r>
            <a:br/>
            <a:r>
              <a:t>需要现成用户入口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260604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957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60A12"/>
                </a:solidFill>
                <a:latin typeface="PingFang SC"/>
              </a:defRPr>
            </a:pPr>
            <a:r>
              <a:t>华为云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834640"/>
            <a:ext cx="2606040" cy="1188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971800"/>
            <a:ext cx="2276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昇腾芯片正在铺量</a:t>
            </a:r>
            <a:br/>
            <a:r>
              <a:t>需要算力平台作渠道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2377440"/>
            <a:ext cx="26060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3957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60A12"/>
                </a:solidFill>
                <a:latin typeface="PingFang SC"/>
              </a:defRPr>
            </a:pPr>
            <a:r>
              <a:t>AutoDL 等平台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2834640"/>
            <a:ext cx="2606040" cy="118872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1" y="2971800"/>
            <a:ext cx="2276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同类合并覆盖全价格带</a:t>
            </a:r>
            <a:br/>
            <a:r>
              <a:t>消费级+企业级互补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回报测算 (基准方案)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第三年 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3,600 万元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× 收购倍数 5-10x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= 1.8 亿 ~ 3.6 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× 种子轮占股 10-15% (稀释后约 7-10%)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= 1,260 万 ~ 3,600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200" b="0">
                <a:solidFill>
                  <a:srgbClr val="B0B8C4"/>
                </a:solidFill>
                <a:latin typeface="PingFang SC"/>
              </a:defRPr>
            </a:pPr>
            <a:r>
              <a:t>÷ 投入 200 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→ 回报 6x ~ 18x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其他退出路径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17720"/>
            <a:ext cx="5029200" cy="105156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4754880"/>
            <a:ext cx="4700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独立 IPO (5-8年)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047488"/>
            <a:ext cx="4700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科创板（〈硬科技〉定位）或港股</a:t>
            </a:r>
            <a:br/>
            <a:r>
              <a:t>参考：沐曦 GPU 已完成 IPO 辅导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852160"/>
            <a:ext cx="5029200" cy="1051560"/>
          </a:xfrm>
          <a:prstGeom prst="roundRect">
            <a:avLst/>
          </a:prstGeom>
          <a:solidFill>
            <a:srgbClr val="0F1724"/>
          </a:solidFill>
          <a:ln w="6350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989320"/>
            <a:ext cx="4700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0D4FF"/>
                </a:solidFill>
                <a:latin typeface="PingFang SC"/>
              </a:defRPr>
            </a:pPr>
            <a:r>
              <a:t>传统 IDC/运营商收购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6281928"/>
            <a:ext cx="4700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100" b="0">
                <a:solidFill>
                  <a:srgbClr val="B0B8C4"/>
                </a:solidFill>
                <a:latin typeface="PingFang SC"/>
              </a:defRPr>
            </a:pPr>
            <a:r>
              <a:t>中国移动、万国数据、世纪互联</a:t>
            </a:r>
            <a:br/>
            <a:r>
              <a:t>正在从[卖机柜]向[卖算力]转型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126480"/>
            <a:ext cx="10881360" cy="6350"/>
          </a:xfrm>
          <a:prstGeom prst="rect">
            <a:avLst/>
          </a:prstGeom>
          <a:solidFill>
            <a:srgbClr val="4A5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000" b="0">
                <a:solidFill>
                  <a:srgbClr val="4A5262"/>
                </a:solidFill>
                <a:latin typeface="PingFang SC"/>
              </a:defRPr>
            </a:pPr>
            <a:r>
              <a:t>可比交易：DigitalOcean 收购 Paperspace (2023) 8x ARR  |  CoreWeave IPO (2025) 12x ARR  |  Lambda Labs 估值超 15 亿美元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749039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84632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1277295" cy="635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0" y="457200"/>
            <a:ext cx="6350" cy="5943600"/>
          </a:xfrm>
          <a:prstGeom prst="rect">
            <a:avLst/>
          </a:prstGeom>
          <a:solidFill>
            <a:srgbClr val="0D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5760"/>
            <a:ext cx="146304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280160"/>
            <a:ext cx="146304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5760"/>
            <a:ext cx="6350" cy="9144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0" y="365760"/>
            <a:ext cx="6350" cy="9144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0360" y="3403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03400" y="3403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0360" y="12547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03400" y="125476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62895" y="5577840"/>
            <a:ext cx="146304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62895" y="6492240"/>
            <a:ext cx="1463040" cy="635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62895" y="5577840"/>
            <a:ext cx="6350" cy="9144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25935" y="5577840"/>
            <a:ext cx="6350" cy="9144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7495" y="55524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00535" y="55524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7495" y="64668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00535" y="646684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00"/>
              </a:lnSpc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t>算 力 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2000" b="0">
                <a:solidFill>
                  <a:srgbClr val="B0B8C4"/>
                </a:solidFill>
                <a:latin typeface="PingFang SC"/>
              </a:defRPr>
            </a:pPr>
            <a:r>
              <a:t>让每一个 AI 开发者，打开浏览器就能训练模型。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3337560"/>
            <a:ext cx="33832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365760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800" b="0">
                <a:solidFill>
                  <a:srgbClr val="FFFFFF"/>
                </a:solidFill>
                <a:latin typeface="PingFang SC"/>
              </a:defRPr>
            </a:pPr>
            <a:r>
              <a:t>创始人：Eric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1148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8A94A6"/>
                </a:solidFill>
                <a:latin typeface="PingFang SC"/>
              </a:defRPr>
            </a:pPr>
            <a:r>
              <a:t>邮箱：[待补充]    微信：[待补充]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种子轮 · 200 万 · 10% ~ 15%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defRPr sz="900" b="0">
                <a:solidFill>
                  <a:srgbClr val="4A5262"/>
                </a:solidFill>
                <a:latin typeface="PingFang SC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